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03e695bc2440f6" /><Relationship Type="http://schemas.openxmlformats.org/officeDocument/2006/relationships/extended-properties" Target="/docProps/app.xml" Id="Rbee2c160fd5e4b7a" /><Relationship Type="http://schemas.openxmlformats.org/officeDocument/2006/relationships/officeDocument" Target="/ppt/presentation.xml" Id="R1337df309a884b2d" /></Relationships>
</file>

<file path=ppt/presentation.xml><?xml version="1.0" encoding="utf-8"?>
<p:presentation xmlns:p="http://schemas.openxmlformats.org/presentationml/2006/main">
  <p:sldMasterIdLst>
    <p:sldMasterId xmlns:r="http://schemas.openxmlformats.org/officeDocument/2006/relationships" id="2147483648" r:id="R2b7cb1db55d14f14"/>
  </p:sldMasterIdLst>
  <p:notesMasterIdLst>
    <p:notesMasterId xmlns:r="http://schemas.openxmlformats.org/officeDocument/2006/relationships" r:id="Rb2e1f7032280444a"/>
  </p:notesMasterIdLst>
  <p:sldIdLst>
    <p:sldId xmlns:r="http://schemas.openxmlformats.org/officeDocument/2006/relationships" id="256" r:id="Ra9401d3c0beb47da"/>
    <p:sldId xmlns:r="http://schemas.openxmlformats.org/officeDocument/2006/relationships" id="257" r:id="R6cda52ea2af747fb"/>
    <p:sldId xmlns:r="http://schemas.openxmlformats.org/officeDocument/2006/relationships" id="258" r:id="Re9edd4c2601242a7"/>
    <p:sldId xmlns:r="http://schemas.openxmlformats.org/officeDocument/2006/relationships" id="259" r:id="R25cf41013bc84dc5"/>
    <p:sldId xmlns:r="http://schemas.openxmlformats.org/officeDocument/2006/relationships" id="260" r:id="Rf630c95733eb4cf0"/>
    <p:sldId xmlns:r="http://schemas.openxmlformats.org/officeDocument/2006/relationships" id="261" r:id="Rae2cce9ada284b71"/>
    <p:sldId xmlns:r="http://schemas.openxmlformats.org/officeDocument/2006/relationships" id="262" r:id="Rcfb0eabecd2b41c0"/>
    <p:sldId xmlns:r="http://schemas.openxmlformats.org/officeDocument/2006/relationships" id="263" r:id="R725f084a9cfc4e94"/>
    <p:sldId xmlns:r="http://schemas.openxmlformats.org/officeDocument/2006/relationships" id="264" r:id="R6a786c4091214b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ba0043406c4239" /><Relationship Type="http://schemas.openxmlformats.org/officeDocument/2006/relationships/slideMaster" Target="/ppt/slideMasters/slideMaster1.xml" Id="R2b7cb1db55d14f14" /><Relationship Type="http://schemas.openxmlformats.org/officeDocument/2006/relationships/notesMaster" Target="/ppt/notesMasters/notesMaster1.xml" Id="Rb2e1f7032280444a" /><Relationship Type="http://schemas.openxmlformats.org/officeDocument/2006/relationships/presProps" Target="/ppt/presProps.xml" Id="R2550fe2042cc4ee8" /><Relationship Type="http://schemas.openxmlformats.org/officeDocument/2006/relationships/tableStyles" Target="/ppt/tableStyles.xml" Id="Raa4cc9d67154423a" /><Relationship Type="http://schemas.openxmlformats.org/officeDocument/2006/relationships/slide" Target="/ppt/slides/slide1.xml" Id="Ra9401d3c0beb47da" /><Relationship Type="http://schemas.openxmlformats.org/officeDocument/2006/relationships/slide" Target="/ppt/slides/slide2.xml" Id="R6cda52ea2af747fb" /><Relationship Type="http://schemas.openxmlformats.org/officeDocument/2006/relationships/slide" Target="/ppt/slides/slide3.xml" Id="Re9edd4c2601242a7" /><Relationship Type="http://schemas.openxmlformats.org/officeDocument/2006/relationships/slide" Target="/ppt/slides/slide4.xml" Id="R25cf41013bc84dc5" /><Relationship Type="http://schemas.openxmlformats.org/officeDocument/2006/relationships/slide" Target="/ppt/slides/slide5.xml" Id="Rf630c95733eb4cf0" /><Relationship Type="http://schemas.openxmlformats.org/officeDocument/2006/relationships/slide" Target="/ppt/slides/slide6.xml" Id="Rae2cce9ada284b71" /><Relationship Type="http://schemas.openxmlformats.org/officeDocument/2006/relationships/slide" Target="/ppt/slides/slide7.xml" Id="Rcfb0eabecd2b41c0" /><Relationship Type="http://schemas.openxmlformats.org/officeDocument/2006/relationships/slide" Target="/ppt/slides/slide8.xml" Id="R725f084a9cfc4e94" /><Relationship Type="http://schemas.openxmlformats.org/officeDocument/2006/relationships/slide" Target="/ppt/slides/slide9.xml" Id="R6a786c4091214b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443e54874b45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c9c1d09667442d" /><Relationship Type="http://schemas.openxmlformats.org/officeDocument/2006/relationships/notesMaster" Target="/ppt/notesMasters/notesMaster1.xml" Id="Rcb65db1f331741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f3b2a121fa4554" /><Relationship Type="http://schemas.openxmlformats.org/officeDocument/2006/relationships/notesMaster" Target="/ppt/notesMasters/notesMaster1.xml" Id="R3de7bad4d1b540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9484ebfa884461" /><Relationship Type="http://schemas.openxmlformats.org/officeDocument/2006/relationships/notesMaster" Target="/ppt/notesMasters/notesMaster1.xml" Id="Rf27a6e9b8f724e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ba14575a2948a9" /><Relationship Type="http://schemas.openxmlformats.org/officeDocument/2006/relationships/notesMaster" Target="/ppt/notesMasters/notesMaster1.xml" Id="R47cf49d6c7ed4e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8cf82c3bd04477" /><Relationship Type="http://schemas.openxmlformats.org/officeDocument/2006/relationships/notesMaster" Target="/ppt/notesMasters/notesMaster1.xml" Id="R0428f4fc07fd4f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98259325ae4345" /><Relationship Type="http://schemas.openxmlformats.org/officeDocument/2006/relationships/notesMaster" Target="/ppt/notesMasters/notesMaster1.xml" Id="R1db9b56bfea545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4ce2a39e3a4fa6" /><Relationship Type="http://schemas.openxmlformats.org/officeDocument/2006/relationships/notesMaster" Target="/ppt/notesMasters/notesMaster1.xml" Id="R4d89dbcd2ad841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c54930355c4b7b" /><Relationship Type="http://schemas.openxmlformats.org/officeDocument/2006/relationships/notesMaster" Target="/ppt/notesMasters/notesMaster1.xml" Id="R6a679dcb960247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4cfa10380b4725" /><Relationship Type="http://schemas.openxmlformats.org/officeDocument/2006/relationships/notesMaster" Target="/ppt/notesMasters/notesMaster1.xml" Id="R95b0adf8db134b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exploratory analysis compares reported counts and the share of fully automated decisions in the Protection of minors category. These are matched five-month windows, not full years. The data does not measure unique videos, individual users, moderation accuracy or staffing.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DSA Transparency Database, https://transparency.dsa.ec.europa.eu/. The project uses prepared aggregate decision counts. Python inspects archives, checks coverage and aggregates counts; MySQL creates a matched-period comparison; Tableau displays results. January through May is compared across 2024, 2025 and 2026. Counts are summed rather than treating each aggregate row as one decision. The presentation focuses on Protection of minors. A fresh clean rerun is not yet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02_data_clean/tiktok_jan_may_2024_2026_comparison.csv, Protection of minors. Fully automated share equals fully automated decision count divided by all decision counts in that category and matched five-month period, including partially automated decisions. Values: 75.05753570663397%, 39.76472356966639%, 35.01736808452766%. This describes the reported decision method, not moderation quality or staffing.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02_data_clean/tiktok_jan_may_2024_2026_comparison.csv. Protection of minors, January through May in each year. Total reported decisions across all automation methods: 2024 27,771,450; 2025 11,041,480; 2026 3,238,987. The 2026 total includes 120 partially automated decisions. M means million. These are decision counts, not unique videos or people, and lower counts do not establish less harmful content or improved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Tableau dashboard export. January-May comparison across 2024, 2025 and 2026. Monthly counts are above, shares below left, and totals below right. Purple means fully automated and yellow non-automated. The dashboard uses more precise labels than the rounded presentation summaries. Live dashboard: https://public.tableau.com/app/profile/manuel.baptista/viz/Book1_17894077787600/TikTokProtectionofMinors. The dedicated 2024 spike slide is reserved for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TikTok announced expanded automatic removals in the US and Canada in July 2021 and retained human review for nuanced cases. https://newsroom.tiktok.com/advancing-our-approach-to-user-safety?lang=en</a:t>
            </a:r>
          </a:p>
          <a:p xmlns:a="http://schemas.openxmlformats.org/drawingml/2006/main">
            <a:r>
              <a:t>The European Commission opened proceedings on 19 February 2024, including minors safety, addictive design, harmful content and safeguards. https://cyprus.representation.ec.europa.eu/news/commission-opens-formal-proceedings-against-tiktok-under-digital-services-act-2024-02-19_en</a:t>
            </a:r>
          </a:p>
          <a:p xmlns:a="http://schemas.openxmlformats.org/drawingml/2006/main">
            <a:r>
              <a:t>ver.di reported a Berlin strike over restructuring in September 2025. Employee accounts described promises of training and career development; these were reported experiences, not a verified guarantee of job retention. https://publik.verdi.de/ausgabe-202504/tiktok-ki-killt-jobs/</a:t>
            </a:r>
          </a:p>
          <a:p xmlns:a="http://schemas.openxmlformats.org/drawingml/2006/main">
            <a:r>
              <a:t>https://mmm.verdi.de/aktuelle-meldungen/tiktok-mehrtaegiger-streik-gestartet-104613</a:t>
            </a:r>
          </a:p>
          <a:p xmlns:a="http://schemas.openxmlformats.org/drawingml/2006/main">
            <a:r>
              <a:t>These events provide context. The decision data does not identify a causal effect of the Berlin dispute.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2024: fully automated 20,844,566, total 27,771,450. 2025: fully automated 4,390,614, total 11,041,480. 2026: fully automated 1,134,208, total 3,238,987, including 120 partially automated decisions. March and April 2024 account for about 87% of that five-month fully automated total. All selected calendar days are represented in the prepared monthly checks; this does not establish complete platform reporting. The broader 2024–2025 source has known missing platform-days. Differences in activity, classification or reporting could contribute. No causal effect of layoffs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https://github.com/manuelbaptistaio/who-moderates-europe</a:t>
            </a:r>
          </a:p>
          <a:p xmlns:a="http://schemas.openxmlformats.org/drawingml/2006/main">
            <a:r>
              <a:t>Dashboard: https://public.tableau.com/app/profile/manuel.baptista/viz/Book1_17894077787600/TikTokProtectionofMinors</a:t>
            </a:r>
          </a:p>
          <a:p xmlns:a="http://schemas.openxmlformats.org/drawingml/2006/main">
            <a:r>
              <a:t>Data definitions: https://transparency.dsa.ec.europa.eu/page/documentation</a:t>
            </a:r>
          </a:p>
          <a:p xmlns:a="http://schemas.openxmlformats.org/drawingml/2006/main">
            <a:r>
              <a:t>Context and sources: https://github.com/manuelbaptistaio/who-moderates-europe/tree/main/06_report</a:t>
            </a:r>
          </a:p>
          <a:p xmlns:a="http://schemas.openxmlformats.org/drawingml/2006/main">
            <a:r>
              <a:t>This learning project was developed with AI assistance. Python, SQL and Tableau were combined deliberately to practise each workflow; Python could also perform the comparisons and create charts. A fresh end-to-end rerun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d94b3103e34c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760b0daab64123" /><Relationship Type="http://schemas.openxmlformats.org/officeDocument/2006/relationships/slideLayout" Target="/ppt/slideLayouts/slideLayout1.xml" Id="R4df5bba200b74c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f5bba200b74c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998d9ba2444b60" /><Relationship Type="http://schemas.openxmlformats.org/officeDocument/2006/relationships/notesSlide" Target="/ppt/notesSlides/notesSlide1.xml" Id="Rd136924659a149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8938fc8d1c4dc4" /><Relationship Type="http://schemas.openxmlformats.org/officeDocument/2006/relationships/notesSlide" Target="/ppt/notesSlides/notesSlide2.xml" Id="Rbda3b519b5ad4e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47d2c117774855" /><Relationship Type="http://schemas.openxmlformats.org/officeDocument/2006/relationships/notesSlide" Target="/ppt/notesSlides/notesSlide3.xml" Id="R7e057ac3314e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e61325f253491d" /><Relationship Type="http://schemas.openxmlformats.org/officeDocument/2006/relationships/chart" Target="/ppt/slides/charts/chart1.xml" Id="R28be0e0c68f343bc" /><Relationship Type="http://schemas.openxmlformats.org/officeDocument/2006/relationships/notesSlide" Target="/ppt/notesSlides/notesSlide4.xml" Id="Rdd042274ce7c4a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6d84608ff24197" /><Relationship Type="http://schemas.openxmlformats.org/officeDocument/2006/relationships/notesSlide" Target="/ppt/notesSlides/notesSlide5.xml" Id="R6eee4acf419441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2dd805e1a94d1c" /><Relationship Type="http://schemas.openxmlformats.org/officeDocument/2006/relationships/image" Target="/ppt/media/image.png" Id="R176cd46f2300466a" /><Relationship Type="http://schemas.openxmlformats.org/officeDocument/2006/relationships/notesSlide" Target="/ppt/notesSlides/notesSlide6.xml" Id="R4a53b5a2043c43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009a18230c4c7c" /><Relationship Type="http://schemas.openxmlformats.org/officeDocument/2006/relationships/notesSlide" Target="/ppt/notesSlides/notesSlide7.xml" Id="R3880df70a47b41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95e445f77d4085" /><Relationship Type="http://schemas.openxmlformats.org/officeDocument/2006/relationships/notesSlide" Target="/ppt/notesSlides/notesSlide8.xml" Id="Rbeecfe19effc4e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94ac5193ee34b28" /><Relationship Type="http://schemas.openxmlformats.org/officeDocument/2006/relationships/notesSlide" Target="/ppt/notesSlides/notesSlide9.xml" Id="R945a3d4d656448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Fully automated share</c:v>
          </c:tx>
          <c:spPr>
            <a:solidFill xmlns:a="http://schemas.openxmlformats.org/drawingml/2006/main">
              <a:srgbClr val="A4A4D5"/>
            </a:solidFill>
            <a:ln xmlns:a="http://schemas.openxmlformats.org/drawingml/2006/main" w="38100">
              <a:solidFill>
                <a:srgbClr val="A4A4D5"/>
              </a:solidFill>
            </a:ln>
          </c:spPr>
          <c:marker>
            <c:symbol val="none"/>
          </c:marker>
          <c:cat>
            <c:numRef>
              <c:f>'Chart Data'!$A$2:$A$4</c:f>
              <c:numCache>
                <c:formatCode>General</c:formatCode>
                <c:ptCount val="3"/>
                <c:pt idx="0">
                  <c:v>2024</c:v>
                </c:pt>
                <c:pt idx="1">
                  <c:v>2025</c:v>
                </c:pt>
                <c:pt idx="2">
                  <c:v>2026</c:v>
                </c:pt>
              </c:numCache>
            </c:numRef>
          </c:cat>
          <c:val>
            <c:numRef>
              <c:f>'Chart Data'!$B$2:$B$4</c:f>
              <c:numCache>
                <c:formatCode>0%</c:formatCode>
                <c:ptCount val="3"/>
                <c:pt idx="0">
                  <c:v>0.75057535706634</c:v>
                </c:pt>
                <c:pt idx="1">
                  <c:v>0.397647235696664</c:v>
                </c:pt>
                <c:pt idx="2">
                  <c:v>0.350173680845277</c:v>
                </c:pt>
              </c:numCache>
            </c:numRef>
          </c:val>
          <c:smooth val="1"/>
        </c:ser>
        <c:dLbls>
          <c:txPr>
            <a:bodyPr xmlns:a="http://schemas.openxmlformats.org/drawingml/2006/main" anchorCtr="1"/>
            <a:lstStyle xmlns:a="http://schemas.openxmlformats.org/drawingml/2006/main"/>
            <a:p xmlns:a="http://schemas.openxmlformats.org/drawingml/2006/main">
              <a:pPr>
                <a:defRPr sz="2025">
                  <a:solidFill>
                    <a:srgbClr val="402744"/>
                  </a:solidFill>
                  <a:latin typeface="Calibri"/>
                  <a:ea typeface="Calibri"/>
                  <a:cs typeface="Calibri"/>
                </a:defRPr>
              </a:pPr>
            </a:p>
          </c:txPr>
          <c:showLegendKey val="0"/>
          <c:showVal val="1"/>
          <c:showCatName val="0"/>
          <c:showSerName val="0"/>
          <c:showPercent val="0"/>
          <c:showBubbleSize val="0"/>
          <c:showLeaderLines val="0"/>
        </c:dLbls>
        <c:smooth val="1"/>
        <c:axId val="48650112"/>
        <c:axId val="48672768"/>
      </c:lineChart>
      <c:catAx>
        <c:axId val="48650112"/>
        <c:scaling>
          <c:orientation val="minMax"/>
        </c:scaling>
        <c:delete val="0"/>
        <c:axPos val="b"/>
        <c:numFmt formatCode="General"/>
        <c:majorTickMark val="none"/>
        <c:minorTickMark val="none"/>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875">
                <a:solidFill>
                  <a:srgbClr val="402744"/>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EEEEF2"/>
              </a:solidFill>
            </a:ln>
          </c:spPr>
        </c:majorGridlines>
        <c:numFmt formatCode="0%"/>
        <c:majorTickMark val="none"/>
        <c:minorTickMark val="none"/>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425">
                <a:solidFill>
                  <a:srgbClr val="66616B"/>
                </a:solidFill>
                <a:latin typeface="Calibri"/>
                <a:ea typeface="Calibri"/>
                <a:cs typeface="Calibri"/>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A5C73F-ECBD-48C9-9093-9D30FD470089}"/>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90DD86-7751-486C-9CB5-24178174989F}"/>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AC908B-4316-4DC9-8C98-5E40862F6080}"/>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172657-A049-4DF7-8D3B-EB95C57BC695}"/>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E06C01-E253-4148-AC86-7D3DB81F2131}"/>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F6BD70-7653-4A4D-9F7F-A2E1CC9E2BB1}"/>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9019D8-EAD5-4CF5-BEEF-0BD5C2194474}"/>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25C75B-02FE-4BA9-BA09-429CFBD853B7}"/>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241F427-0466-49FA-BB05-418EC8239922}"/>
              </a:ext>
            </a:extLst>
          </p:cNvPr>
          <p:cNvSpPr>
            <a:spLocks xmlns:a="http://schemas.openxmlformats.org/drawingml/2006/main" noGrp="1"/>
          </p:cNvSpPr>
          <p:nvPr/>
        </p:nvSpPr>
        <p:spPr>
          <a:xfrm xmlns:a="http://schemas.openxmlformats.org/drawingml/2006/main">
            <a:off x="1428750" y="58102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4500">
                <a:solidFill>
                  <a:srgbClr val="402744"/>
                </a:solidFill>
                <a:latin typeface="Calibri"/>
                <a:ea typeface="Calibri"/>
                <a:cs typeface="Calibri"/>
              </a:defRPr>
            </a:pPr>
            <a:r>
              <a:rPr sz="4500">
                <a:solidFill>
                  <a:srgbClr val="402744"/>
                </a:solidFill>
                <a:latin typeface="Calibri"/>
                <a:ea typeface="Calibri"/>
                <a:cs typeface="Calibri"/>
              </a:rPr>
              <a:t>TikTok</a:t>
            </a:r>
          </a:p>
        </p:txBody>
      </p:sp>
      <p:sp>
        <p:nvSpPr>
          <p:cNvPr id="10" name="">
            <a:extLst xmlns:a="http://schemas.openxmlformats.org/drawingml/2006/main">
              <a:ext uri="{FF2B5EF4-FFF2-40B4-BE49-F238E27FC236}">
                <a16:creationId xmlns:a16="http://schemas.microsoft.com/office/drawing/2014/main" id="{C5FF0D0A-8B96-4C3F-86CF-D4286FF9F1CA}"/>
              </a:ext>
            </a:extLst>
          </p:cNvPr>
          <p:cNvSpPr>
            <a:spLocks xmlns:a="http://schemas.openxmlformats.org/drawingml/2006/main" noGrp="1"/>
          </p:cNvSpPr>
          <p:nvPr/>
        </p:nvSpPr>
        <p:spPr>
          <a:xfrm xmlns:a="http://schemas.openxmlformats.org/drawingml/2006/main">
            <a:off x="952500" y="13716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550">
                <a:solidFill>
                  <a:srgbClr val="402744"/>
                </a:solidFill>
                <a:latin typeface="Calibri"/>
                <a:ea typeface="Calibri"/>
                <a:cs typeface="Calibri"/>
              </a:defRPr>
            </a:pPr>
            <a:r>
              <a:rPr sz="2550">
                <a:solidFill>
                  <a:srgbClr val="402744"/>
                </a:solidFill>
                <a:latin typeface="Calibri"/>
                <a:ea typeface="Calibri"/>
                <a:cs typeface="Calibri"/>
              </a:rPr>
              <a:t>Decision Automation and Protection of Minors</a:t>
            </a:r>
          </a:p>
        </p:txBody>
      </p:sp>
      <p:sp>
        <p:nvSpPr>
          <p:cNvPr id="11" name="">
            <a:extLst xmlns:a="http://schemas.openxmlformats.org/drawingml/2006/main">
              <a:ext uri="{FF2B5EF4-FFF2-40B4-BE49-F238E27FC236}">
                <a16:creationId xmlns:a16="http://schemas.microsoft.com/office/drawing/2014/main" id="{481D40A9-F493-478B-932F-BB9CC82BDB8A}"/>
              </a:ext>
            </a:extLst>
          </p:cNvPr>
          <p:cNvSpPr>
            <a:spLocks xmlns:a="http://schemas.openxmlformats.org/drawingml/2006/main" noGrp="1"/>
          </p:cNvSpPr>
          <p:nvPr/>
        </p:nvSpPr>
        <p:spPr>
          <a:xfrm xmlns:a="http://schemas.openxmlformats.org/drawingml/2006/main">
            <a:off x="4762500" y="2038350"/>
            <a:ext cx="2667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750">
                <a:solidFill>
                  <a:srgbClr val="A4A4D5"/>
                </a:solidFill>
                <a:latin typeface="Calibri"/>
                <a:ea typeface="Calibri"/>
                <a:cs typeface="Calibri"/>
              </a:defRPr>
            </a:pPr>
            <a:r>
              <a:rPr sz="15750">
                <a:gradFill>
                  <a:gsLst>
                    <a:gs pos="0">
                      <a:srgbClr val="A4A4D5"/>
                    </a:gs>
                    <a:gs pos="50000">
                      <a:srgbClr val="A4A4D5"/>
                    </a:gs>
                    <a:gs pos="50000">
                      <a:srgbClr val="F9D23C"/>
                    </a:gs>
                    <a:gs pos="100000">
                      <a:srgbClr val="F9D23C"/>
                    </a:gs>
                  </a:gsLst>
                  <a:lin ang="5400000"/>
                </a:gradFill>
                <a:latin typeface="Calibri"/>
                <a:ea typeface="Calibri"/>
                <a:cs typeface="Calibri"/>
              </a:rPr>
              <a:t>?</a:t>
            </a:r>
          </a:p>
        </p:txBody>
      </p:sp>
      <p:sp>
        <p:nvSpPr>
          <p:cNvPr id="12" name="">
            <a:extLst xmlns:a="http://schemas.openxmlformats.org/drawingml/2006/main">
              <a:ext uri="{FF2B5EF4-FFF2-40B4-BE49-F238E27FC236}">
                <a16:creationId xmlns:a16="http://schemas.microsoft.com/office/drawing/2014/main" id="{286F3C51-BB67-4F80-AAAC-F8BD8276510B}"/>
              </a:ext>
            </a:extLst>
          </p:cNvPr>
          <p:cNvSpPr>
            <a:spLocks xmlns:a="http://schemas.openxmlformats.org/drawingml/2006/main" noGrp="1"/>
          </p:cNvSpPr>
          <p:nvPr/>
        </p:nvSpPr>
        <p:spPr>
          <a:xfrm xmlns:a="http://schemas.openxmlformats.org/drawingml/2006/main">
            <a:off x="1238250" y="4686300"/>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700">
                <a:solidFill>
                  <a:srgbClr val="402744"/>
                </a:solidFill>
                <a:latin typeface="Calibri"/>
                <a:ea typeface="Calibri"/>
                <a:cs typeface="Calibri"/>
              </a:defRPr>
            </a:pPr>
            <a:r>
              <a:rPr sz="2700">
                <a:solidFill>
                  <a:srgbClr val="402744"/>
                </a:solidFill>
                <a:latin typeface="Calibri"/>
                <a:ea typeface="Calibri"/>
                <a:cs typeface="Calibri"/>
              </a:rPr>
              <a:t>Reported Moderation Decisions</a:t>
            </a:r>
          </a:p>
        </p:txBody>
      </p:sp>
      <p:sp>
        <p:nvSpPr>
          <p:cNvPr id="13" name="">
            <a:extLst xmlns:a="http://schemas.openxmlformats.org/drawingml/2006/main">
              <a:ext uri="{FF2B5EF4-FFF2-40B4-BE49-F238E27FC236}">
                <a16:creationId xmlns:a16="http://schemas.microsoft.com/office/drawing/2014/main" id="{639C1668-1402-48FA-9EE4-F416F55878CC}"/>
              </a:ext>
            </a:extLst>
          </p:cNvPr>
          <p:cNvSpPr>
            <a:spLocks xmlns:a="http://schemas.openxmlformats.org/drawingml/2006/main" noGrp="1"/>
          </p:cNvSpPr>
          <p:nvPr/>
        </p:nvSpPr>
        <p:spPr>
          <a:xfrm xmlns:a="http://schemas.openxmlformats.org/drawingml/2006/main">
            <a:off x="1809750" y="54292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00">
                <a:solidFill>
                  <a:srgbClr val="66616B"/>
                </a:solidFill>
                <a:latin typeface="Calibri"/>
                <a:ea typeface="Calibri"/>
                <a:cs typeface="Calibri"/>
              </a:defRPr>
            </a:pPr>
            <a:r>
              <a:rPr sz="1800">
                <a:solidFill>
                  <a:srgbClr val="66616B"/>
                </a:solidFill>
                <a:latin typeface="Calibri"/>
                <a:ea typeface="Calibri"/>
                <a:cs typeface="Calibri"/>
              </a:rPr>
              <a:t>Portfolio overview · January–May 2024, 2025 and 2026</a:t>
            </a:r>
          </a:p>
        </p:txBody>
      </p:sp>
      <p:sp>
        <p:nvSpPr>
          <p:cNvPr id="14" name="">
            <a:extLst xmlns:a="http://schemas.openxmlformats.org/drawingml/2006/main">
              <a:ext uri="{FF2B5EF4-FFF2-40B4-BE49-F238E27FC236}">
                <a16:creationId xmlns:a16="http://schemas.microsoft.com/office/drawing/2014/main" id="{C41E0AD9-716C-4733-A9E7-A9885CB1C996}"/>
              </a:ext>
            </a:extLst>
          </p:cNvPr>
          <p:cNvSpPr>
            <a:spLocks xmlns:a="http://schemas.openxmlformats.org/drawingml/2006/main" noGrp="1"/>
          </p:cNvSpPr>
          <p:nvPr/>
        </p:nvSpPr>
        <p:spPr>
          <a:xfrm xmlns:a="http://schemas.openxmlformats.org/drawingml/2006/main">
            <a:off x="1905000" y="6105525"/>
            <a:ext cx="838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725">
                <a:solidFill>
                  <a:srgbClr val="402744"/>
                </a:solidFill>
                <a:latin typeface="Calibri"/>
                <a:ea typeface="Calibri"/>
                <a:cs typeface="Calibri"/>
              </a:defRPr>
            </a:pPr>
            <a:r>
              <a:rPr sz="1725">
                <a:solidFill>
                  <a:srgbClr val="402744"/>
                </a:solidFill>
                <a:latin typeface="Calibri"/>
                <a:ea typeface="Calibri"/>
                <a:cs typeface="Calibri"/>
              </a:rPr>
              <a:t>Manuel Baptista</a:t>
            </a:r>
          </a:p>
        </p:txBody>
      </p:sp>
    </p:spTree>
    <p:extLst>
      <p:ext uri="{BB962C8B-B14F-4D97-AF65-F5344CB8AC3E}">
        <p14:creationId xmlns:p14="http://schemas.microsoft.com/office/powerpoint/2010/main" val="9727921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8AA8AF-DB82-4CD6-8E06-51A458B088D7}"/>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2B9A0E-C7A9-432B-A98E-11223D65FDF3}"/>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E5DA5C-5DDF-4DB2-A7A1-F0980D1545B1}"/>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18F1F2-9F73-4013-846F-A7D6DA1594A2}"/>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16C1CB-733E-4C7D-88DE-24040B7C7E41}"/>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75BDF2-093C-427A-80BA-4009DAC982F7}"/>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48549B-E264-4A1C-8FB9-78961111988D}"/>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F8F2AD-3C29-4A80-AEC4-812D391C6EDF}"/>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DDE534-8F17-43C7-871F-55D2404D8987}"/>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Research Question</a:t>
            </a:r>
          </a:p>
        </p:txBody>
      </p:sp>
      <p:sp>
        <p:nvSpPr>
          <p:cNvPr id="10" name="">
            <a:extLst xmlns:a="http://schemas.openxmlformats.org/drawingml/2006/main">
              <a:ext uri="{FF2B5EF4-FFF2-40B4-BE49-F238E27FC236}">
                <a16:creationId xmlns:a16="http://schemas.microsoft.com/office/drawing/2014/main" id="{67C11480-F6D3-4BF5-8FBD-E74C195B2CC1}"/>
              </a:ext>
            </a:extLst>
          </p:cNvPr>
          <p:cNvSpPr>
            <a:spLocks xmlns:a="http://schemas.openxmlformats.org/drawingml/2006/main" noGrp="1"/>
          </p:cNvSpPr>
          <p:nvPr/>
        </p:nvSpPr>
        <p:spPr>
          <a:xfrm xmlns:a="http://schemas.openxmlformats.org/drawingml/2006/main">
            <a:off x="1390650" y="2238375"/>
            <a:ext cx="9810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304800" indent="-177800" algn="l">
              <a:spcAft>
                <a:spcPts val="2200"/>
              </a:spcAft>
              <a:buChar char="•"/>
              <a:defRPr sz="2700">
                <a:solidFill>
                  <a:srgbClr val="402744"/>
                </a:solidFill>
                <a:latin typeface="Calibri"/>
                <a:ea typeface="Calibri"/>
                <a:cs typeface="Calibri"/>
              </a:defRPr>
            </a:pPr>
            <a:r>
              <a:t>How did reported decision automation change?</a:t>
            </a:r>
          </a:p>
          <a:p xmlns:a="http://schemas.openxmlformats.org/drawingml/2006/main">
            <a:pPr marL="304800" indent="-177800" algn="l">
              <a:spcAft>
                <a:spcPts val="2200"/>
              </a:spcAft>
              <a:buChar char="•"/>
              <a:defRPr sz="2700">
                <a:solidFill>
                  <a:srgbClr val="402744"/>
                </a:solidFill>
                <a:latin typeface="Calibri"/>
                <a:ea typeface="Calibri"/>
                <a:cs typeface="Calibri"/>
              </a:defRPr>
            </a:pPr>
            <a:r>
              <a:t>TikTok · Protection of minors</a:t>
            </a:r>
          </a:p>
          <a:p xmlns:a="http://schemas.openxmlformats.org/drawingml/2006/main">
            <a:pPr marL="304800" indent="-177800" algn="l">
              <a:spcAft>
                <a:spcPts val="2200"/>
              </a:spcAft>
              <a:buChar char="•"/>
              <a:defRPr sz="2700">
                <a:solidFill>
                  <a:srgbClr val="402744"/>
                </a:solidFill>
                <a:latin typeface="Calibri"/>
                <a:ea typeface="Calibri"/>
                <a:cs typeface="Calibri"/>
              </a:defRPr>
            </a:pPr>
            <a:r>
              <a:t>January–May in 2024, 2025 and 2026</a:t>
            </a:r>
          </a:p>
        </p:txBody>
      </p:sp>
      <p:sp>
        <p:nvSpPr>
          <p:cNvPr id="11" name="">
            <a:extLst xmlns:a="http://schemas.openxmlformats.org/drawingml/2006/main">
              <a:ext uri="{FF2B5EF4-FFF2-40B4-BE49-F238E27FC236}">
                <a16:creationId xmlns:a16="http://schemas.microsoft.com/office/drawing/2014/main" id="{198289DD-7B23-4121-AF7C-0806B549F2CF}"/>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1DA8B16E-C359-47D7-8FBE-CA72F9D8E6F9}"/>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a:solidFill>
                  <a:srgbClr val="66616B"/>
                </a:solidFill>
                <a:latin typeface="Calibri"/>
                <a:ea typeface="Calibri"/>
                <a:cs typeface="Calibri"/>
              </a:defRPr>
            </a:pPr>
            <a:r>
              <a:rPr sz="1350">
                <a:solidFill>
                  <a:srgbClr val="66616B"/>
                </a:solidFill>
                <a:latin typeface="Calibri"/>
                <a:ea typeface="Calibri"/>
                <a:cs typeface="Calibri"/>
              </a:rPr>
              <a:t>Source: EU DSA Transparency Database</a:t>
            </a:r>
          </a:p>
        </p:txBody>
      </p:sp>
    </p:spTree>
    <p:extLst>
      <p:ext uri="{BB962C8B-B14F-4D97-AF65-F5344CB8AC3E}">
        <p14:creationId xmlns:p14="http://schemas.microsoft.com/office/powerpoint/2010/main" val="17073071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BF125F7-F270-44FD-9D9C-FA97C6E08EE9}"/>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CCE767-3675-4146-8BD1-3BA472A4EF85}"/>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AF4A41-20E3-43A2-9026-E0023E60E44B}"/>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74410E-0C47-47B2-BED9-202D7763266F}"/>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A4351F-26DD-4084-A018-7E1B770628B1}"/>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EF93C2-6569-4DB5-897A-20ADE2AB2B14}"/>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591BB1A-6A1D-47E4-9673-18868532593A}"/>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BE46C6-15A0-488D-B612-74B3E5DF5162}"/>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F2D002-FC53-4FE1-A0A7-9B9A5BC47568}"/>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Data and Method</a:t>
            </a:r>
          </a:p>
        </p:txBody>
      </p:sp>
      <p:sp>
        <p:nvSpPr>
          <p:cNvPr id="10" name="">
            <a:extLst xmlns:a="http://schemas.openxmlformats.org/drawingml/2006/main">
              <a:ext uri="{FF2B5EF4-FFF2-40B4-BE49-F238E27FC236}">
                <a16:creationId xmlns:a16="http://schemas.microsoft.com/office/drawing/2014/main" id="{4E300935-C6D8-443A-8299-07020D5CFB8D}"/>
              </a:ext>
            </a:extLst>
          </p:cNvPr>
          <p:cNvSpPr>
            <a:spLocks xmlns:a="http://schemas.openxmlformats.org/drawingml/2006/main" noGrp="1"/>
          </p:cNvSpPr>
          <p:nvPr/>
        </p:nvSpPr>
        <p:spPr>
          <a:xfrm xmlns:a="http://schemas.openxmlformats.org/drawingml/2006/main">
            <a:off x="1390650" y="2286000"/>
            <a:ext cx="9906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304800" indent="-177800" algn="l">
              <a:spcAft>
                <a:spcPts val="2200"/>
              </a:spcAft>
              <a:buChar char="•"/>
              <a:defRPr sz="2550">
                <a:solidFill>
                  <a:srgbClr val="402744"/>
                </a:solidFill>
                <a:latin typeface="Calibri"/>
                <a:ea typeface="Calibri"/>
                <a:cs typeface="Calibri"/>
              </a:defRPr>
            </a:pPr>
            <a:r>
              <a:t>TikTok decisions · DSA Transparency Database</a:t>
            </a:r>
          </a:p>
          <a:p xmlns:a="http://schemas.openxmlformats.org/drawingml/2006/main">
            <a:pPr marL="304800" indent="-177800" algn="l">
              <a:spcAft>
                <a:spcPts val="2200"/>
              </a:spcAft>
              <a:buChar char="•"/>
              <a:defRPr sz="2550">
                <a:solidFill>
                  <a:srgbClr val="402744"/>
                </a:solidFill>
                <a:latin typeface="Calibri"/>
                <a:ea typeface="Calibri"/>
                <a:cs typeface="Calibri"/>
              </a:defRPr>
            </a:pPr>
            <a:r>
              <a:t>January–May · 2024, 2025 and 2026</a:t>
            </a:r>
          </a:p>
          <a:p xmlns:a="http://schemas.openxmlformats.org/drawingml/2006/main">
            <a:pPr marL="304800" indent="-177800" algn="l">
              <a:spcAft>
                <a:spcPts val="2200"/>
              </a:spcAft>
              <a:buChar char="•"/>
              <a:defRPr sz="2550">
                <a:solidFill>
                  <a:srgbClr val="402744"/>
                </a:solidFill>
                <a:latin typeface="Calibri"/>
                <a:ea typeface="Calibri"/>
                <a:cs typeface="Calibri"/>
              </a:defRPr>
            </a:pPr>
            <a:r>
              <a:t>Decision counts and automation shares</a:t>
            </a:r>
          </a:p>
        </p:txBody>
      </p:sp>
      <p:sp>
        <p:nvSpPr>
          <p:cNvPr id="11" name="">
            <a:extLst xmlns:a="http://schemas.openxmlformats.org/drawingml/2006/main">
              <a:ext uri="{FF2B5EF4-FFF2-40B4-BE49-F238E27FC236}">
                <a16:creationId xmlns:a16="http://schemas.microsoft.com/office/drawing/2014/main" id="{EAD571C6-F8A6-4DE6-B9C9-CEC7EC5EC12D}"/>
              </a:ext>
            </a:extLst>
          </p:cNvPr>
          <p:cNvSpPr>
            <a:spLocks xmlns:a="http://schemas.openxmlformats.org/drawingml/2006/main" noGrp="1"/>
          </p:cNvSpPr>
          <p:nvPr/>
        </p:nvSpPr>
        <p:spPr>
          <a:xfrm xmlns:a="http://schemas.openxmlformats.org/drawingml/2006/main">
            <a:off x="1905000" y="50482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402744"/>
                </a:solidFill>
                <a:latin typeface="Calibri"/>
                <a:ea typeface="Calibri"/>
                <a:cs typeface="Calibri"/>
              </a:defRPr>
            </a:pPr>
            <a:r>
              <a:rPr sz="2400">
                <a:solidFill>
                  <a:srgbClr val="402744"/>
                </a:solidFill>
                <a:latin typeface="Calibri"/>
                <a:ea typeface="Calibri"/>
                <a:cs typeface="Calibri"/>
              </a:rPr>
              <a:t>Python</a:t>
            </a:r>
          </a:p>
        </p:txBody>
      </p:sp>
      <p:sp>
        <p:nvSpPr>
          <p:cNvPr id="12" name="">
            <a:extLst xmlns:a="http://schemas.openxmlformats.org/drawingml/2006/main">
              <a:ext uri="{FF2B5EF4-FFF2-40B4-BE49-F238E27FC236}">
                <a16:creationId xmlns:a16="http://schemas.microsoft.com/office/drawing/2014/main" id="{42C69067-4763-42B8-A7FD-81014C72B4D6}"/>
              </a:ext>
            </a:extLst>
          </p:cNvPr>
          <p:cNvSpPr>
            <a:spLocks xmlns:a="http://schemas.openxmlformats.org/drawingml/2006/main" noGrp="1"/>
          </p:cNvSpPr>
          <p:nvPr/>
        </p:nvSpPr>
        <p:spPr>
          <a:xfrm xmlns:a="http://schemas.openxmlformats.org/drawingml/2006/main">
            <a:off x="4143375" y="50482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A4A4D5"/>
                </a:solidFill>
                <a:latin typeface="Calibri"/>
                <a:ea typeface="Calibri"/>
                <a:cs typeface="Calibri"/>
              </a:defRPr>
            </a:pPr>
            <a:r>
              <a:rPr sz="2400">
                <a:solidFill>
                  <a:srgbClr val="A4A4D5"/>
                </a:solidFill>
                <a:latin typeface="Calibri"/>
                <a:ea typeface="Calibri"/>
                <a:cs typeface="Calibri"/>
              </a:rPr>
              <a:t>→</a:t>
            </a:r>
          </a:p>
        </p:txBody>
      </p:sp>
      <p:sp>
        <p:nvSpPr>
          <p:cNvPr id="13" name="">
            <a:extLst xmlns:a="http://schemas.openxmlformats.org/drawingml/2006/main">
              <a:ext uri="{FF2B5EF4-FFF2-40B4-BE49-F238E27FC236}">
                <a16:creationId xmlns:a16="http://schemas.microsoft.com/office/drawing/2014/main" id="{A4003C13-A933-42F9-B265-320E7209D955}"/>
              </a:ext>
            </a:extLst>
          </p:cNvPr>
          <p:cNvSpPr>
            <a:spLocks xmlns:a="http://schemas.openxmlformats.org/drawingml/2006/main" noGrp="1"/>
          </p:cNvSpPr>
          <p:nvPr/>
        </p:nvSpPr>
        <p:spPr>
          <a:xfrm xmlns:a="http://schemas.openxmlformats.org/drawingml/2006/main">
            <a:off x="5143500" y="50482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402744"/>
                </a:solidFill>
                <a:latin typeface="Calibri"/>
                <a:ea typeface="Calibri"/>
                <a:cs typeface="Calibri"/>
              </a:defRPr>
            </a:pPr>
            <a:r>
              <a:rPr sz="2400">
                <a:solidFill>
                  <a:srgbClr val="402744"/>
                </a:solidFill>
                <a:latin typeface="Calibri"/>
                <a:ea typeface="Calibri"/>
                <a:cs typeface="Calibri"/>
              </a:rPr>
              <a:t>MySQL</a:t>
            </a:r>
          </a:p>
        </p:txBody>
      </p:sp>
      <p:sp>
        <p:nvSpPr>
          <p:cNvPr id="14" name="">
            <a:extLst xmlns:a="http://schemas.openxmlformats.org/drawingml/2006/main">
              <a:ext uri="{FF2B5EF4-FFF2-40B4-BE49-F238E27FC236}">
                <a16:creationId xmlns:a16="http://schemas.microsoft.com/office/drawing/2014/main" id="{C244BCE2-13DE-4F05-8B04-3ADDB50E8B0E}"/>
              </a:ext>
            </a:extLst>
          </p:cNvPr>
          <p:cNvSpPr>
            <a:spLocks xmlns:a="http://schemas.openxmlformats.org/drawingml/2006/main" noGrp="1"/>
          </p:cNvSpPr>
          <p:nvPr/>
        </p:nvSpPr>
        <p:spPr>
          <a:xfrm xmlns:a="http://schemas.openxmlformats.org/drawingml/2006/main">
            <a:off x="7429500" y="50482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A4A4D5"/>
                </a:solidFill>
                <a:latin typeface="Calibri"/>
                <a:ea typeface="Calibri"/>
                <a:cs typeface="Calibri"/>
              </a:defRPr>
            </a:pPr>
            <a:r>
              <a:rPr sz="2400">
                <a:solidFill>
                  <a:srgbClr val="A4A4D5"/>
                </a:solidFill>
                <a:latin typeface="Calibri"/>
                <a:ea typeface="Calibri"/>
                <a:cs typeface="Calibri"/>
              </a:rPr>
              <a:t>→</a:t>
            </a:r>
          </a:p>
        </p:txBody>
      </p:sp>
      <p:sp>
        <p:nvSpPr>
          <p:cNvPr id="15" name="">
            <a:extLst xmlns:a="http://schemas.openxmlformats.org/drawingml/2006/main">
              <a:ext uri="{FF2B5EF4-FFF2-40B4-BE49-F238E27FC236}">
                <a16:creationId xmlns:a16="http://schemas.microsoft.com/office/drawing/2014/main" id="{C5A3BD90-7531-40A2-9B10-F90933D3EE92}"/>
              </a:ext>
            </a:extLst>
          </p:cNvPr>
          <p:cNvSpPr>
            <a:spLocks xmlns:a="http://schemas.openxmlformats.org/drawingml/2006/main" noGrp="1"/>
          </p:cNvSpPr>
          <p:nvPr/>
        </p:nvSpPr>
        <p:spPr>
          <a:xfrm xmlns:a="http://schemas.openxmlformats.org/drawingml/2006/main">
            <a:off x="8572500" y="50482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402744"/>
                </a:solidFill>
                <a:latin typeface="Calibri"/>
                <a:ea typeface="Calibri"/>
                <a:cs typeface="Calibri"/>
              </a:defRPr>
            </a:pPr>
            <a:r>
              <a:rPr sz="2400">
                <a:solidFill>
                  <a:srgbClr val="402744"/>
                </a:solidFill>
                <a:latin typeface="Calibri"/>
                <a:ea typeface="Calibri"/>
                <a:cs typeface="Calibri"/>
              </a:rPr>
              <a:t>Tableau</a:t>
            </a:r>
          </a:p>
        </p:txBody>
      </p:sp>
      <p:sp>
        <p:nvSpPr>
          <p:cNvPr id="16" name="">
            <a:extLst xmlns:a="http://schemas.openxmlformats.org/drawingml/2006/main">
              <a:ext uri="{FF2B5EF4-FFF2-40B4-BE49-F238E27FC236}">
                <a16:creationId xmlns:a16="http://schemas.microsoft.com/office/drawing/2014/main" id="{C653AA10-3908-4707-8D84-E285C8738BB7}"/>
              </a:ext>
            </a:extLst>
          </p:cNvPr>
          <p:cNvSpPr>
            <a:spLocks xmlns:a="http://schemas.openxmlformats.org/drawingml/2006/main" noGrp="1"/>
          </p:cNvSpPr>
          <p:nvPr/>
        </p:nvSpPr>
        <p:spPr>
          <a:xfrm xmlns:a="http://schemas.openxmlformats.org/drawingml/2006/main">
            <a:off x="1905000" y="54864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a:solidFill>
                  <a:srgbClr val="402744"/>
                </a:solidFill>
                <a:latin typeface="Calibri"/>
                <a:ea typeface="Calibri"/>
                <a:cs typeface="Calibri"/>
              </a:defRPr>
            </a:pPr>
            <a:r>
              <a:rPr sz="1725">
                <a:solidFill>
                  <a:srgbClr val="402744"/>
                </a:solidFill>
                <a:latin typeface="Calibri"/>
                <a:ea typeface="Calibri"/>
                <a:cs typeface="Calibri"/>
              </a:rPr>
              <a:t>Check and group data</a:t>
            </a:r>
          </a:p>
        </p:txBody>
      </p:sp>
      <p:sp>
        <p:nvSpPr>
          <p:cNvPr id="17" name="">
            <a:extLst xmlns:a="http://schemas.openxmlformats.org/drawingml/2006/main">
              <a:ext uri="{FF2B5EF4-FFF2-40B4-BE49-F238E27FC236}">
                <a16:creationId xmlns:a16="http://schemas.microsoft.com/office/drawing/2014/main" id="{3CA22DC2-8FD0-444D-9E68-655E24ED298E}"/>
              </a:ext>
            </a:extLst>
          </p:cNvPr>
          <p:cNvSpPr>
            <a:spLocks xmlns:a="http://schemas.openxmlformats.org/drawingml/2006/main" noGrp="1"/>
          </p:cNvSpPr>
          <p:nvPr/>
        </p:nvSpPr>
        <p:spPr>
          <a:xfrm xmlns:a="http://schemas.openxmlformats.org/drawingml/2006/main">
            <a:off x="5143500" y="54864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a:solidFill>
                  <a:srgbClr val="402744"/>
                </a:solidFill>
                <a:latin typeface="Calibri"/>
                <a:ea typeface="Calibri"/>
                <a:cs typeface="Calibri"/>
              </a:defRPr>
            </a:pPr>
            <a:r>
              <a:rPr sz="1725">
                <a:solidFill>
                  <a:srgbClr val="402744"/>
                </a:solidFill>
                <a:latin typeface="Calibri"/>
                <a:ea typeface="Calibri"/>
                <a:cs typeface="Calibri"/>
              </a:rPr>
              <a:t>Compare matching months</a:t>
            </a:r>
          </a:p>
        </p:txBody>
      </p:sp>
      <p:sp>
        <p:nvSpPr>
          <p:cNvPr id="18" name="">
            <a:extLst xmlns:a="http://schemas.openxmlformats.org/drawingml/2006/main">
              <a:ext uri="{FF2B5EF4-FFF2-40B4-BE49-F238E27FC236}">
                <a16:creationId xmlns:a16="http://schemas.microsoft.com/office/drawing/2014/main" id="{C65DED07-3090-42D0-8F42-FDFA44C33D5B}"/>
              </a:ext>
            </a:extLst>
          </p:cNvPr>
          <p:cNvSpPr>
            <a:spLocks xmlns:a="http://schemas.openxmlformats.org/drawingml/2006/main" noGrp="1"/>
          </p:cNvSpPr>
          <p:nvPr/>
        </p:nvSpPr>
        <p:spPr>
          <a:xfrm xmlns:a="http://schemas.openxmlformats.org/drawingml/2006/main">
            <a:off x="8572500" y="5486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a:solidFill>
                  <a:srgbClr val="402744"/>
                </a:solidFill>
                <a:latin typeface="Calibri"/>
                <a:ea typeface="Calibri"/>
                <a:cs typeface="Calibri"/>
              </a:defRPr>
            </a:pPr>
            <a:r>
              <a:rPr sz="1725">
                <a:solidFill>
                  <a:srgbClr val="402744"/>
                </a:solidFill>
                <a:latin typeface="Calibri"/>
                <a:ea typeface="Calibri"/>
                <a:cs typeface="Calibri"/>
              </a:rPr>
              <a:t>Build the dashboard</a:t>
            </a:r>
          </a:p>
        </p:txBody>
      </p:sp>
      <p:sp>
        <p:nvSpPr>
          <p:cNvPr id="19" name="">
            <a:extLst xmlns:a="http://schemas.openxmlformats.org/drawingml/2006/main">
              <a:ext uri="{FF2B5EF4-FFF2-40B4-BE49-F238E27FC236}">
                <a16:creationId xmlns:a16="http://schemas.microsoft.com/office/drawing/2014/main" id="{28335466-C6B3-42C4-931E-D66B50F1F38A}"/>
              </a:ext>
            </a:extLst>
          </p:cNvPr>
          <p:cNvSpPr>
            <a:spLocks xmlns:a="http://schemas.openxmlformats.org/drawingml/2006/main" noGrp="1"/>
          </p:cNvSpPr>
          <p:nvPr/>
        </p:nvSpPr>
        <p:spPr>
          <a:xfrm xmlns:a="http://schemas.openxmlformats.org/drawingml/2006/main">
            <a:off x="1905000" y="5848350"/>
            <a:ext cx="1333500" cy="381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4BEF12-300A-4CB3-AA6C-40A4475A7E7B}"/>
              </a:ext>
            </a:extLst>
          </p:cNvPr>
          <p:cNvSpPr>
            <a:spLocks xmlns:a="http://schemas.openxmlformats.org/drawingml/2006/main" noGrp="1"/>
          </p:cNvSpPr>
          <p:nvPr/>
        </p:nvSpPr>
        <p:spPr>
          <a:xfrm xmlns:a="http://schemas.openxmlformats.org/drawingml/2006/main">
            <a:off x="5143500" y="5848350"/>
            <a:ext cx="1333500" cy="381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18D45C6-E5D9-4AAE-9718-636F0EEF70D6}"/>
              </a:ext>
            </a:extLst>
          </p:cNvPr>
          <p:cNvSpPr>
            <a:spLocks xmlns:a="http://schemas.openxmlformats.org/drawingml/2006/main" noGrp="1"/>
          </p:cNvSpPr>
          <p:nvPr/>
        </p:nvSpPr>
        <p:spPr>
          <a:xfrm xmlns:a="http://schemas.openxmlformats.org/drawingml/2006/main">
            <a:off x="8572500" y="5848350"/>
            <a:ext cx="1333500" cy="381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20DB10-3B57-4C5E-8082-DDFC25DBA1F3}"/>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03</a:t>
            </a:r>
          </a:p>
        </p:txBody>
      </p:sp>
      <p:sp>
        <p:nvSpPr>
          <p:cNvPr id="23" name="">
            <a:extLst xmlns:a="http://schemas.openxmlformats.org/drawingml/2006/main">
              <a:ext uri="{FF2B5EF4-FFF2-40B4-BE49-F238E27FC236}">
                <a16:creationId xmlns:a16="http://schemas.microsoft.com/office/drawing/2014/main" id="{A26A5601-1C1E-4DB6-A052-14CE0268DA13}"/>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425">
                <a:solidFill>
                  <a:srgbClr val="66616B"/>
                </a:solidFill>
                <a:latin typeface="Calibri"/>
                <a:ea typeface="Calibri"/>
                <a:cs typeface="Calibri"/>
              </a:defRPr>
            </a:pPr>
            <a:r>
              <a:rPr sz="1425">
                <a:solidFill>
                  <a:srgbClr val="66616B"/>
                </a:solidFill>
                <a:latin typeface="Calibri"/>
                <a:ea typeface="Calibri"/>
                <a:cs typeface="Calibri"/>
              </a:rPr>
              <a:t>Source: DSA Transparency Database</a:t>
            </a:r>
          </a:p>
        </p:txBody>
      </p:sp>
    </p:spTree>
    <p:extLst>
      <p:ext uri="{BB962C8B-B14F-4D97-AF65-F5344CB8AC3E}">
        <p14:creationId xmlns:p14="http://schemas.microsoft.com/office/powerpoint/2010/main" val="8001476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84628A-2909-4ACF-A052-D076B368E193}"/>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1384AC-3A6B-4AA2-83BE-1E7AA09C930C}"/>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3FB4C4-7CE7-49E6-9C16-E74EE9C5B1BB}"/>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7958EA-4FB3-4E77-A7C2-556A20F48D5B}"/>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5E2093-C9D8-4B6A-AA65-958FFD43D163}"/>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3E34FF-161A-4E7E-A428-B242414C0E72}"/>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8CEAE7-AFC0-4114-9D21-2C8B534D2B53}"/>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9B9ADC-A5D5-4F41-9968-EC1CADA7E784}"/>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C64C68F-0305-488D-82DD-F9293EB06DE9}"/>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A Lower Automated Share</a:t>
            </a:r>
          </a:p>
        </p:txBody>
      </p:sp>
      <p:sp>
        <p:nvSpPr>
          <p:cNvPr id="10" name="">
            <a:extLst xmlns:a="http://schemas.openxmlformats.org/drawingml/2006/main">
              <a:ext uri="{FF2B5EF4-FFF2-40B4-BE49-F238E27FC236}">
                <a16:creationId xmlns:a16="http://schemas.microsoft.com/office/drawing/2014/main" id="{B19EB6A5-5D63-4BA9-98D3-4984CB6B7003}"/>
              </a:ext>
            </a:extLst>
          </p:cNvPr>
          <p:cNvSpPr>
            <a:spLocks xmlns:a="http://schemas.openxmlformats.org/drawingml/2006/main" noGrp="1"/>
          </p:cNvSpPr>
          <p:nvPr/>
        </p:nvSpPr>
        <p:spPr>
          <a:xfrm xmlns:a="http://schemas.openxmlformats.org/drawingml/2006/main">
            <a:off x="952500" y="172402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402744"/>
                </a:solidFill>
                <a:latin typeface="Calibri"/>
                <a:ea typeface="Calibri"/>
                <a:cs typeface="Calibri"/>
              </a:defRPr>
            </a:pPr>
            <a:r>
              <a:rPr sz="2100">
                <a:solidFill>
                  <a:srgbClr val="402744"/>
                </a:solidFill>
                <a:latin typeface="Calibri"/>
                <a:ea typeface="Calibri"/>
                <a:cs typeface="Calibri"/>
              </a:rPr>
              <a:t>Protection of minors · Fully automated decisions</a:t>
            </a:r>
          </a:p>
        </p:txBody>
      </p:sp>
      <p:graphicFrame>
        <p:nvGraphicFramePr>
          <p:cNvPr id="25" name="Chart"/>
          <p:cNvGraphicFramePr/>
          <p:nvPr/>
        </p:nvGraphicFramePr>
        <p:xfrm>
          <a:off xmlns:a="http://schemas.openxmlformats.org/drawingml/2006/main" x="1333500" y="2381250"/>
          <a:ext xmlns:a="http://schemas.openxmlformats.org/drawingml/2006/main" cx="9525000" cy="3238500"/>
        </p:xfrm>
        <a:graphic xmlns:a="http://schemas.openxmlformats.org/drawingml/2006/main">
          <a:graphicData uri="http://schemas.openxmlformats.org/drawingml/2006/chart">
            <c:chart xmlns:r="http://schemas.openxmlformats.org/officeDocument/2006/relationships" xmlns:c="http://schemas.openxmlformats.org/drawingml/2006/chart" r:id="R28be0e0c68f343bc"/>
          </a:graphicData>
        </a:graphic>
      </p:graphicFrame>
      <p:sp>
        <p:nvSpPr>
          <p:cNvPr id="12" name="">
            <a:extLst xmlns:a="http://schemas.openxmlformats.org/drawingml/2006/main">
              <a:ext uri="{FF2B5EF4-FFF2-40B4-BE49-F238E27FC236}">
                <a16:creationId xmlns:a16="http://schemas.microsoft.com/office/drawing/2014/main" id="{C60542FF-190F-4458-B7F7-3C95734738BF}"/>
              </a:ext>
            </a:extLst>
          </p:cNvPr>
          <p:cNvSpPr>
            <a:spLocks xmlns:a="http://schemas.openxmlformats.org/drawingml/2006/main" noGrp="1"/>
          </p:cNvSpPr>
          <p:nvPr/>
        </p:nvSpPr>
        <p:spPr>
          <a:xfrm xmlns:a="http://schemas.openxmlformats.org/drawingml/2006/main">
            <a:off x="2952750" y="566737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75">
                <a:solidFill>
                  <a:srgbClr val="402744"/>
                </a:solidFill>
                <a:latin typeface="Calibri"/>
                <a:ea typeface="Calibri"/>
                <a:cs typeface="Calibri"/>
              </a:defRPr>
            </a:pPr>
            <a:r>
              <a:rPr sz="1875">
                <a:solidFill>
                  <a:srgbClr val="402744"/>
                </a:solidFill>
                <a:latin typeface="Calibri"/>
                <a:ea typeface="Calibri"/>
                <a:cs typeface="Calibri"/>
              </a:rPr>
              <a:t>January–May in each year</a:t>
            </a:r>
          </a:p>
        </p:txBody>
      </p:sp>
      <p:sp>
        <p:nvSpPr>
          <p:cNvPr id="13" name="">
            <a:extLst xmlns:a="http://schemas.openxmlformats.org/drawingml/2006/main">
              <a:ext uri="{FF2B5EF4-FFF2-40B4-BE49-F238E27FC236}">
                <a16:creationId xmlns:a16="http://schemas.microsoft.com/office/drawing/2014/main" id="{400FB06E-5CF5-4A01-92FA-F50344DC4983}"/>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04</a:t>
            </a:r>
          </a:p>
        </p:txBody>
      </p:sp>
      <p:sp>
        <p:nvSpPr>
          <p:cNvPr id="14" name="">
            <a:extLst xmlns:a="http://schemas.openxmlformats.org/drawingml/2006/main">
              <a:ext uri="{FF2B5EF4-FFF2-40B4-BE49-F238E27FC236}">
                <a16:creationId xmlns:a16="http://schemas.microsoft.com/office/drawing/2014/main" id="{68755EB5-B855-4134-BC3F-B8CF0B376687}"/>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425">
                <a:solidFill>
                  <a:srgbClr val="66616B"/>
                </a:solidFill>
                <a:latin typeface="Calibri"/>
                <a:ea typeface="Calibri"/>
                <a:cs typeface="Calibri"/>
              </a:defRPr>
            </a:pPr>
            <a:r>
              <a:rPr sz="1425">
                <a:solidFill>
                  <a:srgbClr val="66616B"/>
                </a:solidFill>
                <a:latin typeface="Calibri"/>
                <a:ea typeface="Calibri"/>
                <a:cs typeface="Calibri"/>
              </a:rPr>
              <a:t>Source: DSA data · Prepared January–May comparison</a:t>
            </a:r>
          </a:p>
        </p:txBody>
      </p:sp>
    </p:spTree>
    <p:extLst>
      <p:ext uri="{BB962C8B-B14F-4D97-AF65-F5344CB8AC3E}">
        <p14:creationId xmlns:p14="http://schemas.microsoft.com/office/powerpoint/2010/main" val="9605017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CF5B8D-6FED-458D-9DE4-A87CC85462D4}"/>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8B0703-01CA-4961-99BA-3CC927290B3F}"/>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0B93A2-BC3D-4699-B604-2357AFF80CE3}"/>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1FC4E9-FB43-4677-8E8F-2822FAAA2D18}"/>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6CD6FA-68CC-4699-9A4F-A544D33B8337}"/>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D63DAA-CAD8-4FEE-9C00-C43879F4FED7}"/>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F2D9E5-F353-4B8B-BC3E-F347733F84DE}"/>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A1C661-911F-41C7-9DDE-1529277CF793}"/>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8D66BB-5428-474A-B447-0E714C1B5B02}"/>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Reported Decision Counts</a:t>
            </a:r>
          </a:p>
        </p:txBody>
      </p:sp>
      <p:sp>
        <p:nvSpPr>
          <p:cNvPr id="10" name="">
            <a:extLst xmlns:a="http://schemas.openxmlformats.org/drawingml/2006/main">
              <a:ext uri="{FF2B5EF4-FFF2-40B4-BE49-F238E27FC236}">
                <a16:creationId xmlns:a16="http://schemas.microsoft.com/office/drawing/2014/main" id="{63C780B7-BF9A-48A7-A87F-EF699A769FEA}"/>
              </a:ext>
            </a:extLst>
          </p:cNvPr>
          <p:cNvSpPr>
            <a:spLocks xmlns:a="http://schemas.openxmlformats.org/drawingml/2006/main" noGrp="1"/>
          </p:cNvSpPr>
          <p:nvPr/>
        </p:nvSpPr>
        <p:spPr>
          <a:xfrm xmlns:a="http://schemas.openxmlformats.org/drawingml/2006/main">
            <a:off x="952500" y="172402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402744"/>
                </a:solidFill>
                <a:latin typeface="Calibri"/>
                <a:ea typeface="Calibri"/>
                <a:cs typeface="Calibri"/>
              </a:defRPr>
            </a:pPr>
            <a:r>
              <a:rPr sz="2100">
                <a:solidFill>
                  <a:srgbClr val="402744"/>
                </a:solidFill>
                <a:latin typeface="Calibri"/>
                <a:ea typeface="Calibri"/>
                <a:cs typeface="Calibri"/>
              </a:rPr>
              <a:t>Protection of minors · All automation methods</a:t>
            </a:r>
          </a:p>
        </p:txBody>
      </p:sp>
      <p:sp>
        <p:nvSpPr>
          <p:cNvPr id="11" name="">
            <a:extLst xmlns:a="http://schemas.openxmlformats.org/drawingml/2006/main">
              <a:ext uri="{FF2B5EF4-FFF2-40B4-BE49-F238E27FC236}">
                <a16:creationId xmlns:a16="http://schemas.microsoft.com/office/drawing/2014/main" id="{C4C8DE94-5B05-45FD-8407-0859206C7EBF}"/>
              </a:ext>
            </a:extLst>
          </p:cNvPr>
          <p:cNvSpPr>
            <a:spLocks xmlns:a="http://schemas.openxmlformats.org/drawingml/2006/main" noGrp="1"/>
          </p:cNvSpPr>
          <p:nvPr/>
        </p:nvSpPr>
        <p:spPr>
          <a:xfrm xmlns:a="http://schemas.openxmlformats.org/drawingml/2006/main">
            <a:off x="1238250" y="274320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400">
                <a:solidFill>
                  <a:srgbClr val="402744"/>
                </a:solidFill>
                <a:latin typeface="Calibri"/>
                <a:ea typeface="Calibri"/>
                <a:cs typeface="Calibri"/>
              </a:defRPr>
            </a:pPr>
            <a:r>
              <a:rPr sz="2400">
                <a:solidFill>
                  <a:srgbClr val="402744"/>
                </a:solidFill>
                <a:latin typeface="Calibri"/>
                <a:ea typeface="Calibri"/>
                <a:cs typeface="Calibri"/>
              </a:rPr>
              <a:t>2024</a:t>
            </a:r>
          </a:p>
        </p:txBody>
      </p:sp>
      <p:sp>
        <p:nvSpPr>
          <p:cNvPr id="12" name="">
            <a:extLst xmlns:a="http://schemas.openxmlformats.org/drawingml/2006/main">
              <a:ext uri="{FF2B5EF4-FFF2-40B4-BE49-F238E27FC236}">
                <a16:creationId xmlns:a16="http://schemas.microsoft.com/office/drawing/2014/main" id="{0C020D75-5B70-42CB-841F-8A5873B60948}"/>
              </a:ext>
            </a:extLst>
          </p:cNvPr>
          <p:cNvSpPr>
            <a:spLocks xmlns:a="http://schemas.openxmlformats.org/drawingml/2006/main" noGrp="1"/>
          </p:cNvSpPr>
          <p:nvPr/>
        </p:nvSpPr>
        <p:spPr>
          <a:xfrm xmlns:a="http://schemas.openxmlformats.org/drawingml/2006/main">
            <a:off x="1095375" y="3400425"/>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5400">
                <a:solidFill>
                  <a:srgbClr val="402744"/>
                </a:solidFill>
                <a:latin typeface="Calibri"/>
                <a:ea typeface="Calibri"/>
                <a:cs typeface="Calibri"/>
              </a:defRPr>
            </a:pPr>
            <a:r>
              <a:rPr sz="5400">
                <a:solidFill>
                  <a:srgbClr val="402744"/>
                </a:solidFill>
                <a:latin typeface="Calibri"/>
                <a:ea typeface="Calibri"/>
                <a:cs typeface="Calibri"/>
              </a:rPr>
              <a:t>28M</a:t>
            </a:r>
          </a:p>
        </p:txBody>
      </p:sp>
      <p:sp>
        <p:nvSpPr>
          <p:cNvPr id="13" name="">
            <a:extLst xmlns:a="http://schemas.openxmlformats.org/drawingml/2006/main">
              <a:ext uri="{FF2B5EF4-FFF2-40B4-BE49-F238E27FC236}">
                <a16:creationId xmlns:a16="http://schemas.microsoft.com/office/drawing/2014/main" id="{8EEADA9C-F0E7-4CB5-88B6-648EDBF5E7BA}"/>
              </a:ext>
            </a:extLst>
          </p:cNvPr>
          <p:cNvSpPr>
            <a:spLocks xmlns:a="http://schemas.openxmlformats.org/drawingml/2006/main" noGrp="1"/>
          </p:cNvSpPr>
          <p:nvPr/>
        </p:nvSpPr>
        <p:spPr>
          <a:xfrm xmlns:a="http://schemas.openxmlformats.org/drawingml/2006/main">
            <a:off x="1619250" y="4543425"/>
            <a:ext cx="200025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3474CA-DCE8-49BE-98C4-C76A494558B2}"/>
              </a:ext>
            </a:extLst>
          </p:cNvPr>
          <p:cNvSpPr>
            <a:spLocks xmlns:a="http://schemas.openxmlformats.org/drawingml/2006/main" noGrp="1"/>
          </p:cNvSpPr>
          <p:nvPr/>
        </p:nvSpPr>
        <p:spPr>
          <a:xfrm xmlns:a="http://schemas.openxmlformats.org/drawingml/2006/main">
            <a:off x="4714875" y="274320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400">
                <a:solidFill>
                  <a:srgbClr val="402744"/>
                </a:solidFill>
                <a:latin typeface="Calibri"/>
                <a:ea typeface="Calibri"/>
                <a:cs typeface="Calibri"/>
              </a:defRPr>
            </a:pPr>
            <a:r>
              <a:rPr sz="2400">
                <a:solidFill>
                  <a:srgbClr val="402744"/>
                </a:solidFill>
                <a:latin typeface="Calibri"/>
                <a:ea typeface="Calibri"/>
                <a:cs typeface="Calibri"/>
              </a:rPr>
              <a:t>2025</a:t>
            </a:r>
          </a:p>
        </p:txBody>
      </p:sp>
      <p:sp>
        <p:nvSpPr>
          <p:cNvPr id="15" name="">
            <a:extLst xmlns:a="http://schemas.openxmlformats.org/drawingml/2006/main">
              <a:ext uri="{FF2B5EF4-FFF2-40B4-BE49-F238E27FC236}">
                <a16:creationId xmlns:a16="http://schemas.microsoft.com/office/drawing/2014/main" id="{2E02A396-0012-436C-89F6-685F9D898D4D}"/>
              </a:ext>
            </a:extLst>
          </p:cNvPr>
          <p:cNvSpPr>
            <a:spLocks xmlns:a="http://schemas.openxmlformats.org/drawingml/2006/main" noGrp="1"/>
          </p:cNvSpPr>
          <p:nvPr/>
        </p:nvSpPr>
        <p:spPr>
          <a:xfrm xmlns:a="http://schemas.openxmlformats.org/drawingml/2006/main">
            <a:off x="4572000" y="3400425"/>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5400">
                <a:solidFill>
                  <a:srgbClr val="402744"/>
                </a:solidFill>
                <a:latin typeface="Calibri"/>
                <a:ea typeface="Calibri"/>
                <a:cs typeface="Calibri"/>
              </a:defRPr>
            </a:pPr>
            <a:r>
              <a:rPr sz="5400">
                <a:solidFill>
                  <a:srgbClr val="402744"/>
                </a:solidFill>
                <a:latin typeface="Calibri"/>
                <a:ea typeface="Calibri"/>
                <a:cs typeface="Calibri"/>
              </a:rPr>
              <a:t>11M</a:t>
            </a:r>
          </a:p>
        </p:txBody>
      </p:sp>
      <p:sp>
        <p:nvSpPr>
          <p:cNvPr id="16" name="">
            <a:extLst xmlns:a="http://schemas.openxmlformats.org/drawingml/2006/main">
              <a:ext uri="{FF2B5EF4-FFF2-40B4-BE49-F238E27FC236}">
                <a16:creationId xmlns:a16="http://schemas.microsoft.com/office/drawing/2014/main" id="{112148CE-F627-4A15-AB8B-9AE328B47357}"/>
              </a:ext>
            </a:extLst>
          </p:cNvPr>
          <p:cNvSpPr>
            <a:spLocks xmlns:a="http://schemas.openxmlformats.org/drawingml/2006/main" noGrp="1"/>
          </p:cNvSpPr>
          <p:nvPr/>
        </p:nvSpPr>
        <p:spPr>
          <a:xfrm xmlns:a="http://schemas.openxmlformats.org/drawingml/2006/main">
            <a:off x="5095875" y="4543425"/>
            <a:ext cx="200025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804460-E611-40D1-9221-EA7461E44D3D}"/>
              </a:ext>
            </a:extLst>
          </p:cNvPr>
          <p:cNvSpPr>
            <a:spLocks xmlns:a="http://schemas.openxmlformats.org/drawingml/2006/main" noGrp="1"/>
          </p:cNvSpPr>
          <p:nvPr/>
        </p:nvSpPr>
        <p:spPr>
          <a:xfrm xmlns:a="http://schemas.openxmlformats.org/drawingml/2006/main">
            <a:off x="8191500" y="274320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400">
                <a:solidFill>
                  <a:srgbClr val="402744"/>
                </a:solidFill>
                <a:latin typeface="Calibri"/>
                <a:ea typeface="Calibri"/>
                <a:cs typeface="Calibri"/>
              </a:defRPr>
            </a:pPr>
            <a:r>
              <a:rPr sz="2400">
                <a:solidFill>
                  <a:srgbClr val="402744"/>
                </a:solidFill>
                <a:latin typeface="Calibri"/>
                <a:ea typeface="Calibri"/>
                <a:cs typeface="Calibri"/>
              </a:rPr>
              <a:t>2026</a:t>
            </a:r>
          </a:p>
        </p:txBody>
      </p:sp>
      <p:sp>
        <p:nvSpPr>
          <p:cNvPr id="18" name="">
            <a:extLst xmlns:a="http://schemas.openxmlformats.org/drawingml/2006/main">
              <a:ext uri="{FF2B5EF4-FFF2-40B4-BE49-F238E27FC236}">
                <a16:creationId xmlns:a16="http://schemas.microsoft.com/office/drawing/2014/main" id="{EC270D8F-D58D-4706-BC01-970A2D3C8C6B}"/>
              </a:ext>
            </a:extLst>
          </p:cNvPr>
          <p:cNvSpPr>
            <a:spLocks xmlns:a="http://schemas.openxmlformats.org/drawingml/2006/main" noGrp="1"/>
          </p:cNvSpPr>
          <p:nvPr/>
        </p:nvSpPr>
        <p:spPr>
          <a:xfrm xmlns:a="http://schemas.openxmlformats.org/drawingml/2006/main">
            <a:off x="8048625" y="3400425"/>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5400">
                <a:solidFill>
                  <a:srgbClr val="402744"/>
                </a:solidFill>
                <a:latin typeface="Calibri"/>
                <a:ea typeface="Calibri"/>
                <a:cs typeface="Calibri"/>
              </a:defRPr>
            </a:pPr>
            <a:r>
              <a:rPr sz="5400">
                <a:solidFill>
                  <a:srgbClr val="402744"/>
                </a:solidFill>
                <a:latin typeface="Calibri"/>
                <a:ea typeface="Calibri"/>
                <a:cs typeface="Calibri"/>
              </a:rPr>
              <a:t>3M</a:t>
            </a:r>
          </a:p>
        </p:txBody>
      </p:sp>
      <p:sp>
        <p:nvSpPr>
          <p:cNvPr id="19" name="">
            <a:extLst xmlns:a="http://schemas.openxmlformats.org/drawingml/2006/main">
              <a:ext uri="{FF2B5EF4-FFF2-40B4-BE49-F238E27FC236}">
                <a16:creationId xmlns:a16="http://schemas.microsoft.com/office/drawing/2014/main" id="{2D94934A-A9CA-45FF-8E82-D76F547A52CE}"/>
              </a:ext>
            </a:extLst>
          </p:cNvPr>
          <p:cNvSpPr>
            <a:spLocks xmlns:a="http://schemas.openxmlformats.org/drawingml/2006/main" noGrp="1"/>
          </p:cNvSpPr>
          <p:nvPr/>
        </p:nvSpPr>
        <p:spPr>
          <a:xfrm xmlns:a="http://schemas.openxmlformats.org/drawingml/2006/main">
            <a:off x="8572500" y="4543425"/>
            <a:ext cx="200025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8BDC5E2-8685-4FE5-A8F7-237B47F26728}"/>
              </a:ext>
            </a:extLst>
          </p:cNvPr>
          <p:cNvSpPr>
            <a:spLocks xmlns:a="http://schemas.openxmlformats.org/drawingml/2006/main" noGrp="1"/>
          </p:cNvSpPr>
          <p:nvPr/>
        </p:nvSpPr>
        <p:spPr>
          <a:xfrm xmlns:a="http://schemas.openxmlformats.org/drawingml/2006/main">
            <a:off x="2952750" y="51244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175">
                <a:solidFill>
                  <a:srgbClr val="402744"/>
                </a:solidFill>
                <a:latin typeface="Calibri"/>
                <a:ea typeface="Calibri"/>
                <a:cs typeface="Calibri"/>
              </a:defRPr>
            </a:pPr>
            <a:r>
              <a:rPr sz="2175">
                <a:solidFill>
                  <a:srgbClr val="402744"/>
                </a:solidFill>
                <a:latin typeface="Calibri"/>
                <a:ea typeface="Calibri"/>
                <a:cs typeface="Calibri"/>
              </a:rPr>
              <a:t>January–May · Rounded to millions</a:t>
            </a:r>
          </a:p>
        </p:txBody>
      </p:sp>
      <p:sp>
        <p:nvSpPr>
          <p:cNvPr id="21" name="">
            <a:extLst xmlns:a="http://schemas.openxmlformats.org/drawingml/2006/main">
              <a:ext uri="{FF2B5EF4-FFF2-40B4-BE49-F238E27FC236}">
                <a16:creationId xmlns:a16="http://schemas.microsoft.com/office/drawing/2014/main" id="{68FE87C7-777B-46A4-AAEA-26E0C375FAFF}"/>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05</a:t>
            </a:r>
          </a:p>
        </p:txBody>
      </p:sp>
      <p:sp>
        <p:nvSpPr>
          <p:cNvPr id="22" name="">
            <a:extLst xmlns:a="http://schemas.openxmlformats.org/drawingml/2006/main">
              <a:ext uri="{FF2B5EF4-FFF2-40B4-BE49-F238E27FC236}">
                <a16:creationId xmlns:a16="http://schemas.microsoft.com/office/drawing/2014/main" id="{EB539D0D-FE44-4D68-949F-49A1051DB2E8}"/>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425">
                <a:solidFill>
                  <a:srgbClr val="66616B"/>
                </a:solidFill>
                <a:latin typeface="Calibri"/>
                <a:ea typeface="Calibri"/>
                <a:cs typeface="Calibri"/>
              </a:defRPr>
            </a:pPr>
            <a:r>
              <a:rPr sz="1425">
                <a:solidFill>
                  <a:srgbClr val="66616B"/>
                </a:solidFill>
                <a:latin typeface="Calibri"/>
                <a:ea typeface="Calibri"/>
                <a:cs typeface="Calibri"/>
              </a:rPr>
              <a:t>Source: DSA data · Prepared January–May comparison</a:t>
            </a:r>
          </a:p>
        </p:txBody>
      </p:sp>
    </p:spTree>
    <p:extLst>
      <p:ext uri="{BB962C8B-B14F-4D97-AF65-F5344CB8AC3E}">
        <p14:creationId xmlns:p14="http://schemas.microsoft.com/office/powerpoint/2010/main" val="20130014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1DDDE0-256A-4AB4-BBE2-AD80839DB438}"/>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A8CD88-7047-4874-9D74-59BD0830FF30}"/>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19F03B-A887-407C-994B-FF6A88BD8BBC}"/>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54DB54-F873-45BA-8074-879CF23A2350}"/>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B69D9B-F352-4A04-99CC-53367A6F277E}"/>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289825-6524-4E87-BC3D-26C0BD367F4A}"/>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73AFE2-B416-4E7F-93AE-14FBCBD26ECA}"/>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B586433-26BF-4683-8D8A-E3CAFB66D89C}"/>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919B629-7C5D-4F47-8D70-F26B0CA40F9B}"/>
              </a:ext>
            </a:extLst>
          </p:cNvPr>
          <p:cNvSpPr>
            <a:spLocks xmlns:a="http://schemas.openxmlformats.org/drawingml/2006/main" noGrp="1"/>
          </p:cNvSpPr>
          <p:nvPr/>
        </p:nvSpPr>
        <p:spPr>
          <a:xfrm xmlns:a="http://schemas.openxmlformats.org/drawingml/2006/main">
            <a:off x="952500" y="7334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600">
                <a:solidFill>
                  <a:srgbClr val="402744"/>
                </a:solidFill>
                <a:latin typeface="Calibri"/>
                <a:ea typeface="Calibri"/>
                <a:cs typeface="Calibri"/>
              </a:defRPr>
            </a:pPr>
            <a:r>
              <a:rPr sz="3600">
                <a:solidFill>
                  <a:srgbClr val="402744"/>
                </a:solidFill>
                <a:latin typeface="Calibri"/>
                <a:ea typeface="Calibri"/>
                <a:cs typeface="Calibri"/>
              </a:rPr>
              <a:t>TikTok Moderation at a Glance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76cd46f2300466a"/>
          <a:stretch xmlns:a="http://schemas.openxmlformats.org/drawingml/2006/main"/>
        </p:blipFill>
        <p:spPr>
          <a:xfrm xmlns:a="http://schemas.openxmlformats.org/drawingml/2006/main">
            <a:off x="857250" y="1619784"/>
            <a:ext cx="10477500" cy="4161357"/>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A1C6745-9153-447E-AB4A-BE6065F5DF51}"/>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06</a:t>
            </a:r>
          </a:p>
        </p:txBody>
      </p:sp>
      <p:sp>
        <p:nvSpPr>
          <p:cNvPr id="12" name="">
            <a:extLst xmlns:a="http://schemas.openxmlformats.org/drawingml/2006/main">
              <a:ext uri="{FF2B5EF4-FFF2-40B4-BE49-F238E27FC236}">
                <a16:creationId xmlns:a16="http://schemas.microsoft.com/office/drawing/2014/main" id="{C8AB25B6-4821-4C68-8371-ABA3C3F9892B}"/>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425">
                <a:solidFill>
                  <a:srgbClr val="66616B"/>
                </a:solidFill>
                <a:latin typeface="Calibri"/>
                <a:ea typeface="Calibri"/>
                <a:cs typeface="Calibri"/>
              </a:defRPr>
            </a:pPr>
            <a:r>
              <a:rPr sz="1425">
                <a:solidFill>
                  <a:srgbClr val="66616B"/>
                </a:solidFill>
                <a:latin typeface="Calibri"/>
                <a:ea typeface="Calibri"/>
                <a:cs typeface="Calibri"/>
              </a:rPr>
              <a:t>January–May 2024–2026 · Interactive version on Tableau Public</a:t>
            </a:r>
          </a:p>
        </p:txBody>
      </p:sp>
    </p:spTree>
    <p:extLst>
      <p:ext uri="{BB962C8B-B14F-4D97-AF65-F5344CB8AC3E}">
        <p14:creationId xmlns:p14="http://schemas.microsoft.com/office/powerpoint/2010/main" val="17863662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0045EB-F4FD-4298-9775-2FE426A3C668}"/>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FC5366-2621-40A9-B5ED-ECDD5CF53FED}"/>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7A13E1-02B9-45A4-84F7-92D037A43F79}"/>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B19DF4-18FA-435D-B89C-B79668BAE379}"/>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A19693-18DB-4FD1-8ABC-EEDEF80EC5EF}"/>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9652FD-E0E4-496F-8D57-D5285C39D607}"/>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FF31A0-7E50-4CDC-86E4-C2D97814F900}"/>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0F406B-C51F-4972-A7B8-1769BC471747}"/>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4378D3-3779-4F7B-A026-91F2C00555B7}"/>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Industry and Regulatory Context</a:t>
            </a:r>
          </a:p>
        </p:txBody>
      </p:sp>
      <p:sp>
        <p:nvSpPr>
          <p:cNvPr id="10" name="">
            <a:extLst xmlns:a="http://schemas.openxmlformats.org/drawingml/2006/main">
              <a:ext uri="{FF2B5EF4-FFF2-40B4-BE49-F238E27FC236}">
                <a16:creationId xmlns:a16="http://schemas.microsoft.com/office/drawing/2014/main" id="{D5E17F91-773F-4D9D-BBCE-D28D42B95A12}"/>
              </a:ext>
            </a:extLst>
          </p:cNvPr>
          <p:cNvSpPr>
            <a:spLocks xmlns:a="http://schemas.openxmlformats.org/drawingml/2006/main" noGrp="1"/>
          </p:cNvSpPr>
          <p:nvPr/>
        </p:nvSpPr>
        <p:spPr>
          <a:xfrm xmlns:a="http://schemas.openxmlformats.org/drawingml/2006/main">
            <a:off x="1390650" y="2238375"/>
            <a:ext cx="9810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304800" indent="-177800" algn="l">
              <a:spcAft>
                <a:spcPts val="2200"/>
              </a:spcAft>
              <a:buChar char="•"/>
              <a:defRPr sz="2250">
                <a:solidFill>
                  <a:srgbClr val="402744"/>
                </a:solidFill>
                <a:latin typeface="Calibri"/>
                <a:ea typeface="Calibri"/>
                <a:cs typeface="Calibri"/>
              </a:defRPr>
            </a:pPr>
            <a:r>
              <a:t>TikTok, 2021: expanded automation with human review</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EU, 2024: scrutiny of minors’ safety</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Berlin, 2025: restructuring and a labour dispute</a:t>
            </a:r>
          </a:p>
        </p:txBody>
      </p:sp>
      <p:sp>
        <p:nvSpPr>
          <p:cNvPr id="11" name="">
            <a:extLst xmlns:a="http://schemas.openxmlformats.org/drawingml/2006/main">
              <a:ext uri="{FF2B5EF4-FFF2-40B4-BE49-F238E27FC236}">
                <a16:creationId xmlns:a16="http://schemas.microsoft.com/office/drawing/2014/main" id="{70C5C818-733C-4E12-BBD1-2FF077C0D8AF}"/>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07</a:t>
            </a:r>
          </a:p>
        </p:txBody>
      </p:sp>
      <p:sp>
        <p:nvSpPr>
          <p:cNvPr id="12" name="">
            <a:extLst xmlns:a="http://schemas.openxmlformats.org/drawingml/2006/main">
              <a:ext uri="{FF2B5EF4-FFF2-40B4-BE49-F238E27FC236}">
                <a16:creationId xmlns:a16="http://schemas.microsoft.com/office/drawing/2014/main" id="{3BA80312-33BD-4E4D-B5FA-A3BE7B1DB138}"/>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a:solidFill>
                  <a:srgbClr val="66616B"/>
                </a:solidFill>
                <a:latin typeface="Calibri"/>
                <a:ea typeface="Calibri"/>
                <a:cs typeface="Calibri"/>
              </a:defRPr>
            </a:pPr>
            <a:r>
              <a:rPr sz="1350">
                <a:solidFill>
                  <a:srgbClr val="66616B"/>
                </a:solidFill>
                <a:latin typeface="Calibri"/>
                <a:ea typeface="Calibri"/>
                <a:cs typeface="Calibri"/>
              </a:rPr>
              <a:t>Sources: TikTok Newsroom · European Commission · ver.di</a:t>
            </a:r>
          </a:p>
        </p:txBody>
      </p:sp>
    </p:spTree>
    <p:extLst>
      <p:ext uri="{BB962C8B-B14F-4D97-AF65-F5344CB8AC3E}">
        <p14:creationId xmlns:p14="http://schemas.microsoft.com/office/powerpoint/2010/main" val="18765460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376F07-BFD3-4973-B0B8-146B78E23BB3}"/>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B70E59-E92E-4661-9F48-A8E2568412A9}"/>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81B009-5D81-4210-A56C-E1B73EA4E42A}"/>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0A194D-8DFE-47E9-8EB0-64EF9C9035A0}"/>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1DC6FC-6886-4BD0-BFD7-DB96E002CD7B}"/>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922425-CB5B-4EC6-93CD-1FCF85F8FC37}"/>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BE48B4-7D59-4AA2-8098-3FEF2B7B2303}"/>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F20155-7412-41B0-BCEE-533AF96A0A13}"/>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55FDFD-E6EB-4642-B953-E56BBBF788FF}"/>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Findings and Limits</a:t>
            </a:r>
          </a:p>
        </p:txBody>
      </p:sp>
      <p:sp>
        <p:nvSpPr>
          <p:cNvPr id="10" name="">
            <a:extLst xmlns:a="http://schemas.openxmlformats.org/drawingml/2006/main">
              <a:ext uri="{FF2B5EF4-FFF2-40B4-BE49-F238E27FC236}">
                <a16:creationId xmlns:a16="http://schemas.microsoft.com/office/drawing/2014/main" id="{ECA9D279-2EFD-4EE1-A88F-331204A84E26}"/>
              </a:ext>
            </a:extLst>
          </p:cNvPr>
          <p:cNvSpPr>
            <a:spLocks xmlns:a="http://schemas.openxmlformats.org/drawingml/2006/main" noGrp="1"/>
          </p:cNvSpPr>
          <p:nvPr/>
        </p:nvSpPr>
        <p:spPr>
          <a:xfrm xmlns:a="http://schemas.openxmlformats.org/drawingml/2006/main">
            <a:off x="1390650" y="2238375"/>
            <a:ext cx="9810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304800" indent="-177800" algn="l">
              <a:spcAft>
                <a:spcPts val="2200"/>
              </a:spcAft>
              <a:buChar char="•"/>
              <a:defRPr sz="2250">
                <a:solidFill>
                  <a:srgbClr val="402744"/>
                </a:solidFill>
                <a:latin typeface="Calibri"/>
                <a:ea typeface="Calibri"/>
                <a:cs typeface="Calibri"/>
              </a:defRPr>
            </a:pPr>
            <a:r>
              <a:t>Lower fully automated share and reported counts</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No conclusion about moderation quality or staffing</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Causes and child-safety outcomes remain untested</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Coverage checks support comparison, not completeness</a:t>
            </a:r>
          </a:p>
        </p:txBody>
      </p:sp>
      <p:sp>
        <p:nvSpPr>
          <p:cNvPr id="11" name="">
            <a:extLst xmlns:a="http://schemas.openxmlformats.org/drawingml/2006/main">
              <a:ext uri="{FF2B5EF4-FFF2-40B4-BE49-F238E27FC236}">
                <a16:creationId xmlns:a16="http://schemas.microsoft.com/office/drawing/2014/main" id="{03C4F6D7-858D-4C66-BA45-9B8D2EA3D1BD}"/>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08</a:t>
            </a:r>
          </a:p>
        </p:txBody>
      </p:sp>
      <p:sp>
        <p:nvSpPr>
          <p:cNvPr id="12" name="">
            <a:extLst xmlns:a="http://schemas.openxmlformats.org/drawingml/2006/main">
              <a:ext uri="{FF2B5EF4-FFF2-40B4-BE49-F238E27FC236}">
                <a16:creationId xmlns:a16="http://schemas.microsoft.com/office/drawing/2014/main" id="{1DB00A2A-6047-4131-8625-4B9A1B77B454}"/>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a:solidFill>
                  <a:srgbClr val="66616B"/>
                </a:solidFill>
                <a:latin typeface="Calibri"/>
                <a:ea typeface="Calibri"/>
                <a:cs typeface="Calibri"/>
              </a:defRPr>
            </a:pPr>
            <a:r>
              <a:rPr sz="1350">
                <a:solidFill>
                  <a:srgbClr val="66616B"/>
                </a:solidFill>
                <a:latin typeface="Calibri"/>
                <a:ea typeface="Calibri"/>
                <a:cs typeface="Calibri"/>
              </a:rPr>
              <a:t>Scope: TikTok · Protection of minors · Matched January–May periods</a:t>
            </a:r>
          </a:p>
        </p:txBody>
      </p:sp>
    </p:spTree>
    <p:extLst>
      <p:ext uri="{BB962C8B-B14F-4D97-AF65-F5344CB8AC3E}">
        <p14:creationId xmlns:p14="http://schemas.microsoft.com/office/powerpoint/2010/main" val="10271023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F6C73C-F381-4EC4-ACBE-ED32FFBB5361}"/>
              </a:ext>
            </a:extLst>
          </p:cNvPr>
          <p:cNvSpPr>
            <a:spLocks xmlns:a="http://schemas.openxmlformats.org/drawingml/2006/main" noGrp="1"/>
          </p:cNvSpPr>
          <p:nvPr/>
        </p:nvSpPr>
        <p:spPr>
          <a:xfrm xmlns:a="http://schemas.openxmlformats.org/drawingml/2006/main">
            <a:off x="10915650" y="361950"/>
            <a:ext cx="9144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61B086-3E75-401F-84D9-AA65B7102B49}"/>
              </a:ext>
            </a:extLst>
          </p:cNvPr>
          <p:cNvSpPr>
            <a:spLocks xmlns:a="http://schemas.openxmlformats.org/drawingml/2006/main" noGrp="1"/>
          </p:cNvSpPr>
          <p:nvPr/>
        </p:nvSpPr>
        <p:spPr>
          <a:xfrm xmlns:a="http://schemas.openxmlformats.org/drawingml/2006/main">
            <a:off x="11782425" y="361950"/>
            <a:ext cx="47625" cy="91440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A91E73-EDD3-4CBB-85CD-926A727AC3D8}"/>
              </a:ext>
            </a:extLst>
          </p:cNvPr>
          <p:cNvSpPr>
            <a:spLocks xmlns:a="http://schemas.openxmlformats.org/drawingml/2006/main" noGrp="1"/>
          </p:cNvSpPr>
          <p:nvPr/>
        </p:nvSpPr>
        <p:spPr>
          <a:xfrm xmlns:a="http://schemas.openxmlformats.org/drawingml/2006/main">
            <a:off x="10648950" y="514350"/>
            <a:ext cx="100965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F579FC-D457-4947-8863-1EA1C9260185}"/>
              </a:ext>
            </a:extLst>
          </p:cNvPr>
          <p:cNvSpPr>
            <a:spLocks xmlns:a="http://schemas.openxmlformats.org/drawingml/2006/main" noGrp="1"/>
          </p:cNvSpPr>
          <p:nvPr/>
        </p:nvSpPr>
        <p:spPr>
          <a:xfrm xmlns:a="http://schemas.openxmlformats.org/drawingml/2006/main">
            <a:off x="11610975" y="514350"/>
            <a:ext cx="47625" cy="952500"/>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9345A2-1C7B-4E5F-A3E6-C8E0012883AC}"/>
              </a:ext>
            </a:extLst>
          </p:cNvPr>
          <p:cNvSpPr>
            <a:spLocks xmlns:a="http://schemas.openxmlformats.org/drawingml/2006/main" noGrp="1"/>
          </p:cNvSpPr>
          <p:nvPr/>
        </p:nvSpPr>
        <p:spPr>
          <a:xfrm xmlns:a="http://schemas.openxmlformats.org/drawingml/2006/main">
            <a:off x="361950" y="5534025"/>
            <a:ext cx="47625" cy="9620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3FFD0F-E564-4874-B861-4DBD40D28EAC}"/>
              </a:ext>
            </a:extLst>
          </p:cNvPr>
          <p:cNvSpPr>
            <a:spLocks xmlns:a="http://schemas.openxmlformats.org/drawingml/2006/main" noGrp="1"/>
          </p:cNvSpPr>
          <p:nvPr/>
        </p:nvSpPr>
        <p:spPr>
          <a:xfrm xmlns:a="http://schemas.openxmlformats.org/drawingml/2006/main">
            <a:off x="361950" y="6448425"/>
            <a:ext cx="914400" cy="47625"/>
          </a:xfrm>
          <a:prstGeom xmlns:a="http://schemas.openxmlformats.org/drawingml/2006/main" prst="rect">
            <a:avLst/>
          </a:prstGeom>
          <a:solidFill xmlns:a="http://schemas.openxmlformats.org/drawingml/2006/main">
            <a:srgbClr val="F9D2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71422F-998E-498A-9376-87D4107406ED}"/>
              </a:ext>
            </a:extLst>
          </p:cNvPr>
          <p:cNvSpPr>
            <a:spLocks xmlns:a="http://schemas.openxmlformats.org/drawingml/2006/main" noGrp="1"/>
          </p:cNvSpPr>
          <p:nvPr/>
        </p:nvSpPr>
        <p:spPr>
          <a:xfrm xmlns:a="http://schemas.openxmlformats.org/drawingml/2006/main">
            <a:off x="533400" y="5353050"/>
            <a:ext cx="47625" cy="971550"/>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D04FB8-66A2-4963-8D7F-D8655140CD39}"/>
              </a:ext>
            </a:extLst>
          </p:cNvPr>
          <p:cNvSpPr>
            <a:spLocks xmlns:a="http://schemas.openxmlformats.org/drawingml/2006/main" noGrp="1"/>
          </p:cNvSpPr>
          <p:nvPr/>
        </p:nvSpPr>
        <p:spPr>
          <a:xfrm xmlns:a="http://schemas.openxmlformats.org/drawingml/2006/main">
            <a:off x="533400" y="6276975"/>
            <a:ext cx="990600" cy="47625"/>
          </a:xfrm>
          <a:prstGeom xmlns:a="http://schemas.openxmlformats.org/drawingml/2006/main" prst="rect">
            <a:avLst/>
          </a:prstGeom>
          <a:solidFill xmlns:a="http://schemas.openxmlformats.org/drawingml/2006/main">
            <a:srgbClr val="A4A4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5957FC-05EB-4225-BF20-5AD87199081B}"/>
              </a:ext>
            </a:extLst>
          </p:cNvPr>
          <p:cNvSpPr>
            <a:spLocks xmlns:a="http://schemas.openxmlformats.org/drawingml/2006/main" noGrp="1"/>
          </p:cNvSpPr>
          <p:nvPr/>
        </p:nvSpPr>
        <p:spPr>
          <a:xfrm xmlns:a="http://schemas.openxmlformats.org/drawingml/2006/main">
            <a:off x="952500" y="847725"/>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050">
                <a:solidFill>
                  <a:srgbClr val="402744"/>
                </a:solidFill>
                <a:latin typeface="Calibri"/>
                <a:ea typeface="Calibri"/>
                <a:cs typeface="Calibri"/>
              </a:defRPr>
            </a:pPr>
            <a:r>
              <a:rPr sz="4050">
                <a:solidFill>
                  <a:srgbClr val="402744"/>
                </a:solidFill>
                <a:latin typeface="Calibri"/>
                <a:ea typeface="Calibri"/>
                <a:cs typeface="Calibri"/>
              </a:rPr>
              <a:t>Sources and Project Materials</a:t>
            </a:r>
          </a:p>
        </p:txBody>
      </p:sp>
      <p:sp>
        <p:nvSpPr>
          <p:cNvPr id="10" name="">
            <a:extLst xmlns:a="http://schemas.openxmlformats.org/drawingml/2006/main">
              <a:ext uri="{FF2B5EF4-FFF2-40B4-BE49-F238E27FC236}">
                <a16:creationId xmlns:a16="http://schemas.microsoft.com/office/drawing/2014/main" id="{F18ED8AC-9A73-4DD3-B24A-8DFA7AACF282}"/>
              </a:ext>
            </a:extLst>
          </p:cNvPr>
          <p:cNvSpPr>
            <a:spLocks xmlns:a="http://schemas.openxmlformats.org/drawingml/2006/main" noGrp="1"/>
          </p:cNvSpPr>
          <p:nvPr/>
        </p:nvSpPr>
        <p:spPr>
          <a:xfrm xmlns:a="http://schemas.openxmlformats.org/drawingml/2006/main">
            <a:off x="1390650" y="2238375"/>
            <a:ext cx="9810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304800" indent="-177800" algn="l">
              <a:spcAft>
                <a:spcPts val="2200"/>
              </a:spcAft>
              <a:buChar char="•"/>
              <a:defRPr sz="2250">
                <a:solidFill>
                  <a:srgbClr val="402744"/>
                </a:solidFill>
                <a:latin typeface="Calibri"/>
                <a:ea typeface="Calibri"/>
                <a:cs typeface="Calibri"/>
              </a:defRPr>
            </a:pPr>
            <a:r>
              <a:t>Analysis tables, notebooks and SQL — GitHub</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Interactive dashboard — Tableau Public</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Data definitions — EU DSA Transparency Database</a:t>
            </a:r>
          </a:p>
          <a:p xmlns:a="http://schemas.openxmlformats.org/drawingml/2006/main">
            <a:pPr marL="304800" indent="-177800" algn="l">
              <a:spcAft>
                <a:spcPts val="2200"/>
              </a:spcAft>
              <a:buChar char="•"/>
              <a:defRPr sz="2250">
                <a:solidFill>
                  <a:srgbClr val="402744"/>
                </a:solidFill>
                <a:latin typeface="Calibri"/>
                <a:ea typeface="Calibri"/>
                <a:cs typeface="Calibri"/>
              </a:defRPr>
            </a:pPr>
            <a:r>
              <a:t>Context — TikTok, European Commission and ver.di</a:t>
            </a:r>
          </a:p>
        </p:txBody>
      </p:sp>
      <p:sp>
        <p:nvSpPr>
          <p:cNvPr id="11" name="">
            <a:extLst xmlns:a="http://schemas.openxmlformats.org/drawingml/2006/main">
              <a:ext uri="{FF2B5EF4-FFF2-40B4-BE49-F238E27FC236}">
                <a16:creationId xmlns:a16="http://schemas.microsoft.com/office/drawing/2014/main" id="{41738198-6B08-4E2B-B29E-10CDBA437314}"/>
              </a:ext>
            </a:extLst>
          </p:cNvPr>
          <p:cNvSpPr>
            <a:spLocks xmlns:a="http://schemas.openxmlformats.org/drawingml/2006/main" noGrp="1"/>
          </p:cNvSpPr>
          <p:nvPr/>
        </p:nvSpPr>
        <p:spPr>
          <a:xfrm xmlns:a="http://schemas.openxmlformats.org/drawingml/2006/main">
            <a:off x="10953750" y="60864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725">
                <a:solidFill>
                  <a:srgbClr val="A4A4D5"/>
                </a:solidFill>
                <a:latin typeface="Calibri"/>
                <a:ea typeface="Calibri"/>
                <a:cs typeface="Calibri"/>
              </a:defRPr>
            </a:pPr>
            <a:r>
              <a:rPr sz="1725">
                <a:solidFill>
                  <a:srgbClr val="A4A4D5"/>
                </a:solidFill>
                <a:latin typeface="Calibri"/>
                <a:ea typeface="Calibri"/>
                <a:cs typeface="Calibri"/>
              </a:rPr>
              <a:t>09</a:t>
            </a:r>
          </a:p>
        </p:txBody>
      </p:sp>
      <p:sp>
        <p:nvSpPr>
          <p:cNvPr id="12" name="">
            <a:extLst xmlns:a="http://schemas.openxmlformats.org/drawingml/2006/main">
              <a:ext uri="{FF2B5EF4-FFF2-40B4-BE49-F238E27FC236}">
                <a16:creationId xmlns:a16="http://schemas.microsoft.com/office/drawing/2014/main" id="{428010D4-2F3C-47E6-AA59-F4990B19A32F}"/>
              </a:ext>
            </a:extLst>
          </p:cNvPr>
          <p:cNvSpPr>
            <a:spLocks xmlns:a="http://schemas.openxmlformats.org/drawingml/2006/main" noGrp="1"/>
          </p:cNvSpPr>
          <p:nvPr/>
        </p:nvSpPr>
        <p:spPr>
          <a:xfrm xmlns:a="http://schemas.openxmlformats.org/drawingml/2006/main">
            <a:off x="1714500" y="60960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a:solidFill>
                  <a:srgbClr val="66616B"/>
                </a:solidFill>
                <a:latin typeface="Calibri"/>
                <a:ea typeface="Calibri"/>
                <a:cs typeface="Calibri"/>
              </a:defRPr>
            </a:pPr>
            <a:r>
              <a:rPr sz="1350">
                <a:solidFill>
                  <a:srgbClr val="66616B"/>
                </a:solidFill>
                <a:latin typeface="Calibri"/>
                <a:ea typeface="Calibri"/>
                <a:cs typeface="Calibri"/>
              </a:rPr>
              <a:t>Learning project developed with AI assistance · See README for rerun status</a:t>
            </a:r>
          </a:p>
        </p:txBody>
      </p:sp>
    </p:spTree>
    <p:extLst>
      <p:ext uri="{BB962C8B-B14F-4D97-AF65-F5344CB8AC3E}">
        <p14:creationId xmlns:p14="http://schemas.microsoft.com/office/powerpoint/2010/main" val="1385607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2026-09-14T20:35:56.4280000Z</dcterms:created>
  <dcterms:modified xsi:type="dcterms:W3CDTF">2026-09-14T20:35:56.4280000Z</dcterms:modified>
</coreProperties>
</file>